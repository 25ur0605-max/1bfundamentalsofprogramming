
<file path=[Content_Types].xml><?xml version="1.0" encoding="utf-8"?>
<Types xmlns="http://schemas.openxmlformats.org/package/2006/content-types">
  <Default Extension="fntdata" ContentType="application/x-fontdata"/>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0"/>
  </p:notesMasterIdLst>
  <p:sldIdLst>
    <p:sldId id="256" r:id="rId2"/>
    <p:sldId id="378" r:id="rId3"/>
    <p:sldId id="406" r:id="rId4"/>
    <p:sldId id="407" r:id="rId5"/>
    <p:sldId id="408" r:id="rId6"/>
    <p:sldId id="409" r:id="rId7"/>
    <p:sldId id="410" r:id="rId8"/>
    <p:sldId id="411" r:id="rId9"/>
    <p:sldId id="389" r:id="rId10"/>
    <p:sldId id="257" r:id="rId11"/>
    <p:sldId id="390" r:id="rId12"/>
    <p:sldId id="391" r:id="rId13"/>
    <p:sldId id="384" r:id="rId14"/>
    <p:sldId id="392" r:id="rId15"/>
    <p:sldId id="393" r:id="rId16"/>
    <p:sldId id="394" r:id="rId17"/>
    <p:sldId id="395" r:id="rId18"/>
    <p:sldId id="396" r:id="rId19"/>
    <p:sldId id="397" r:id="rId20"/>
    <p:sldId id="398" r:id="rId21"/>
    <p:sldId id="399" r:id="rId22"/>
    <p:sldId id="400" r:id="rId23"/>
    <p:sldId id="401" r:id="rId24"/>
    <p:sldId id="403" r:id="rId25"/>
    <p:sldId id="385" r:id="rId26"/>
    <p:sldId id="404" r:id="rId27"/>
    <p:sldId id="405" r:id="rId28"/>
    <p:sldId id="383" r:id="rId29"/>
  </p:sldIdLst>
  <p:sldSz cx="9144000" cy="5143500" type="screen16x9"/>
  <p:notesSz cx="6888163" cy="10021888"/>
  <p:embeddedFontLst>
    <p:embeddedFont>
      <p:font typeface="Arvo" panose="020B0604020202020204"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Roboto Condensed" panose="02000000000000000000" pitchFamily="2" charset="0"/>
      <p:regular r:id="rId39"/>
      <p:bold r:id="rId40"/>
      <p:italic r:id="rId41"/>
      <p:boldItalic r:id="rId42"/>
    </p:embeddedFont>
    <p:embeddedFont>
      <p:font typeface="Roboto Condensed Light" panose="02000000000000000000" pitchFamily="2"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53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0" autoAdjust="0"/>
    <p:restoredTop sz="94343" autoAdjust="0"/>
  </p:normalViewPr>
  <p:slideViewPr>
    <p:cSldViewPr snapToGrid="0">
      <p:cViewPr>
        <p:scale>
          <a:sx n="116" d="100"/>
          <a:sy n="116" d="100"/>
        </p:scale>
        <p:origin x="69" y="255"/>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8817" y="4760397"/>
            <a:ext cx="5510530" cy="4509850"/>
          </a:xfrm>
          <a:prstGeom prst="rect">
            <a:avLst/>
          </a:prstGeom>
          <a:noFill/>
          <a:ln>
            <a:noFill/>
          </a:ln>
        </p:spPr>
        <p:txBody>
          <a:bodyPr spcFirstLastPara="1" wrap="square" lIns="96608" tIns="96608" rIns="96608" bIns="96608"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D73D7E3A-6BB5-5932-B04B-A1E6F4C4337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C69CE80F-53D7-DD75-49D2-CF2065BDAC3B}"/>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29C6365F-47C1-4430-9ABF-D61A123B83D6}"/>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588872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FE29DCBF-9FB8-89C8-1422-7BA3B35B9A5A}"/>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55A11395-2FC9-A1BA-9B44-0D76827338B0}"/>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EF423F9E-E2C4-21F4-2F05-476C4957B3D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58296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7AB664F3-9609-F1CE-5CF7-A5F049A6245A}"/>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32872571-A3C4-851F-2B21-EA7BAE028AC6}"/>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2F895CA9-48FD-3DC9-0537-E2590E705477}"/>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158604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9C6943C-A4A2-C921-9A9F-476713599B24}"/>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3C1AB32B-3331-0710-C90C-9368A39DA83C}"/>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B3B5F960-5938-5659-B74C-D589161D4C36}"/>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765020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C006FEA-B6C3-5620-F4F5-91D408529DC1}"/>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58249EDF-2C41-1AE7-AE95-96230B6B6063}"/>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9DBE69B5-E61E-CCE6-F89A-DA91FBC3E171}"/>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04411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797C877B-53D0-1C06-98E2-EEDB42D2805F}"/>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92725BE-796F-7D40-EF93-53CCCDB7E045}"/>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48DC44D4-AFC3-0659-8C6A-9FC4054FF84F}"/>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4027920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D953A73-9948-E26D-FE4F-6AD812D7CEA9}"/>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9FDE7E6B-27D5-8B22-7B56-4C5F2D88C67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70584070-B02A-70E7-21E9-4A66D13256D0}"/>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302324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C57B32A3-197D-4B0D-224F-189B3667B7DC}"/>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9B86DD4B-72F9-3CA9-A176-2BC2A577D4F5}"/>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F2C3C7C8-A7B2-8F2E-EE11-1C20E2A2043D}"/>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120324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6463036E-E06C-B5EC-28EF-3B8CF39671D8}"/>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82C8B441-4043-9102-F201-45DAE5652C83}"/>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DCA7EF4E-4E47-5C5F-5379-B7FABAE299B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747369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0FAD6FE3-060B-4CF3-FF66-4652A8B3AA01}"/>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8AAC83B9-3C2F-0A3B-0A46-51F13BD30A4E}"/>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F3DC12D3-A95B-CBA1-58F3-04FFF5CE29B4}"/>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3760712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49A3AA2-9412-CDD8-68E8-D137B007CCD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B07F824-D70F-C167-1DCE-9E24BCE284FC}"/>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86B6CCEC-0FD0-9CD4-AF54-FECF85925184}"/>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4059089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987CD07-24A7-2326-BC57-F61355D2F025}"/>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1C802DC4-7366-4DC3-30AE-AC34EBF58E1F}"/>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A58599CF-2C0C-214C-5317-7BB49E4EF07F}"/>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554303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9B38E91-97E5-599B-8E29-8F476B6BD560}"/>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72603FF1-E264-66DE-AFD5-68770A24C6A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89D467B7-B988-5B9F-40F1-D0848476CB61}"/>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2863582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5B40F00C-38ED-350E-F674-B4F13DA68643}"/>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C44E6CF1-75B4-84D8-139D-841C47DA4EDD}"/>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60E717FE-F1FD-2CC2-2702-C6C15D86EFB8}"/>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905633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B49472C2-7B13-5024-021D-C22FFBDAA158}"/>
            </a:ext>
          </a:extLst>
        </p:cNvPr>
        <p:cNvGrpSpPr/>
        <p:nvPr/>
      </p:nvGrpSpPr>
      <p:grpSpPr>
        <a:xfrm>
          <a:off x="0" y="0"/>
          <a:ext cx="0" cy="0"/>
          <a:chOff x="0" y="0"/>
          <a:chExt cx="0" cy="0"/>
        </a:xfrm>
      </p:grpSpPr>
      <p:sp>
        <p:nvSpPr>
          <p:cNvPr id="186" name="Google Shape;186;g3606f1c2d_30:notes">
            <a:extLst>
              <a:ext uri="{FF2B5EF4-FFF2-40B4-BE49-F238E27FC236}">
                <a16:creationId xmlns:a16="http://schemas.microsoft.com/office/drawing/2014/main" id="{EB39D737-DE93-7332-7670-E50E0CC561EA}"/>
              </a:ext>
            </a:extLst>
          </p:cNvPr>
          <p:cNvSpPr>
            <a:spLocks noGrp="1" noRot="1" noChangeAspect="1"/>
          </p:cNvSpPr>
          <p:nvPr>
            <p:ph type="sldImg" idx="2"/>
          </p:nvPr>
        </p:nvSpPr>
        <p:spPr>
          <a:xfrm>
            <a:off x="104775" y="752475"/>
            <a:ext cx="6678613" cy="37576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a:extLst>
              <a:ext uri="{FF2B5EF4-FFF2-40B4-BE49-F238E27FC236}">
                <a16:creationId xmlns:a16="http://schemas.microsoft.com/office/drawing/2014/main" id="{17EB2508-84E3-4DB1-DA26-59CEABDCEBFC}"/>
              </a:ext>
            </a:extLst>
          </p:cNvPr>
          <p:cNvSpPr txBox="1">
            <a:spLocks noGrp="1"/>
          </p:cNvSpPr>
          <p:nvPr>
            <p:ph type="body" idx="1"/>
          </p:nvPr>
        </p:nvSpPr>
        <p:spPr>
          <a:xfrm>
            <a:off x="688817" y="4760397"/>
            <a:ext cx="5510530" cy="4509850"/>
          </a:xfrm>
          <a:prstGeom prst="rect">
            <a:avLst/>
          </a:prstGeom>
        </p:spPr>
        <p:txBody>
          <a:bodyPr spcFirstLastPara="1" wrap="square" lIns="96608" tIns="96608" rIns="96608" bIns="96608" anchor="t" anchorCtr="0">
            <a:noAutofit/>
          </a:bodyPr>
          <a:lstStyle/>
          <a:p>
            <a:pPr marL="0" indent="0">
              <a:buNone/>
            </a:pPr>
            <a:endParaRPr/>
          </a:p>
        </p:txBody>
      </p:sp>
    </p:spTree>
    <p:extLst>
      <p:ext uri="{BB962C8B-B14F-4D97-AF65-F5344CB8AC3E}">
        <p14:creationId xmlns:p14="http://schemas.microsoft.com/office/powerpoint/2010/main" val="984596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6" name="Google Shape;86;p6"/>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sp>
            <p:nvSpPr>
              <p:cNvPr id="89" name="Google Shape;89;p6"/>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panose="02000000000000000000"/>
                  <a:ea typeface="Arvo" panose="02000000000000000000"/>
                  <a:cs typeface="Arvo" panose="02000000000000000000"/>
                  <a:sym typeface="Arvo" panose="02000000000000000000"/>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spcBef>
                <a:spcPts val="0"/>
              </a:spcBef>
              <a:spcAft>
                <a:spcPts val="0"/>
              </a:spcAft>
              <a:buClr>
                <a:srgbClr val="FFFFFF"/>
              </a:buClr>
              <a:buSzPts val="2000"/>
              <a:buFont typeface="Roboto Condensed" panose="02000000000000000000"/>
              <a:buNone/>
              <a:defRPr sz="20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L="914400" lvl="1"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L="1371600" lvl="2"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L="1828800" lvl="3"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L="2286000" lvl="4"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L="2743200" lvl="5"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L="3200400" lvl="6"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L="3657600" lvl="7" indent="-381000">
              <a:spcBef>
                <a:spcPts val="1000"/>
              </a:spcBef>
              <a:spcAft>
                <a:spcPts val="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L="4114800" lvl="8" indent="-381000">
              <a:spcBef>
                <a:spcPts val="1000"/>
              </a:spcBef>
              <a:spcAft>
                <a:spcPts val="1000"/>
              </a:spcAft>
              <a:buClr>
                <a:srgbClr val="C7D3E6"/>
              </a:buClr>
              <a:buSzPts val="2400"/>
              <a:buFont typeface="Roboto Condensed Light" panose="02000000000000000000"/>
              <a:buChar char="▻"/>
              <a:defRPr sz="2400">
                <a:solidFill>
                  <a:srgbClr val="263248"/>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1pPr>
            <a:lvl2pPr lvl="1"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2pPr>
            <a:lvl3pPr lvl="2"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3pPr>
            <a:lvl4pPr lvl="3"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4pPr>
            <a:lvl5pPr lvl="4"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5pPr>
            <a:lvl6pPr lvl="5"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6pPr>
            <a:lvl7pPr lvl="6"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7pPr>
            <a:lvl8pPr lvl="7"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8pPr>
            <a:lvl9pPr lvl="8" algn="r">
              <a:buNone/>
              <a:defRPr sz="1200" b="1">
                <a:solidFill>
                  <a:srgbClr val="FFFFFF"/>
                </a:solidFill>
                <a:latin typeface="Roboto Condensed" panose="02000000000000000000"/>
                <a:ea typeface="Roboto Condensed" panose="02000000000000000000"/>
                <a:cs typeface="Roboto Condensed" panose="02000000000000000000"/>
                <a:sym typeface="Roboto Condensed" panose="02000000000000000000"/>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210015" y="1102471"/>
            <a:ext cx="7053146" cy="2938557"/>
          </a:xfrm>
          <a:prstGeom prst="rect">
            <a:avLst/>
          </a:prstGeom>
        </p:spPr>
        <p:txBody>
          <a:bodyPr spcFirstLastPara="1" wrap="square" lIns="91425" tIns="91425" rIns="91425" bIns="91425" anchor="ctr" anchorCtr="0">
            <a:noAutofit/>
          </a:bodyPr>
          <a:lstStyle/>
          <a:p>
            <a:pPr lvl="0"/>
            <a:r>
              <a:rPr lang="en-US" sz="7200" dirty="0">
                <a:solidFill>
                  <a:schemeClr val="bg1"/>
                </a:solidFill>
              </a:rPr>
              <a:t>Exception</a:t>
            </a:r>
            <a:br>
              <a:rPr lang="en-US" sz="7200" dirty="0">
                <a:solidFill>
                  <a:schemeClr val="bg1"/>
                </a:solidFill>
              </a:rPr>
            </a:br>
            <a:r>
              <a:rPr lang="en-US" sz="7200" dirty="0">
                <a:solidFill>
                  <a:schemeClr val="bg1"/>
                </a:solidFill>
              </a:rPr>
              <a:t>Handling</a:t>
            </a:r>
            <a:endParaRPr sz="7200" dirty="0">
              <a:solidFill>
                <a:schemeClr val="bg1"/>
              </a:solidFill>
            </a:endParaRPr>
          </a:p>
        </p:txBody>
      </p:sp>
      <p:sp>
        <p:nvSpPr>
          <p:cNvPr id="2" name="Rectangle 1"/>
          <p:cNvSpPr/>
          <p:nvPr/>
        </p:nvSpPr>
        <p:spPr>
          <a:xfrm>
            <a:off x="210015" y="4243018"/>
            <a:ext cx="4572000" cy="400110"/>
          </a:xfrm>
          <a:prstGeom prst="rect">
            <a:avLst/>
          </a:prstGeom>
        </p:spPr>
        <p:txBody>
          <a:bodyPr>
            <a:spAutoFit/>
          </a:bodyPr>
          <a:lstStyle/>
          <a:p>
            <a:r>
              <a:rPr lang="en-US" sz="2000" dirty="0"/>
              <a:t>Leo Gabriel Villanueva</a:t>
            </a:r>
          </a:p>
        </p:txBody>
      </p:sp>
      <p:pic>
        <p:nvPicPr>
          <p:cNvPr id="4" name="Picture 3" descr="A group of people posing for the camera&#10;&#10;Description automatically generated"/>
          <p:cNvPicPr>
            <a:picLocks noChangeAspect="1"/>
          </p:cNvPicPr>
          <p:nvPr/>
        </p:nvPicPr>
        <p:blipFill>
          <a:blip r:embed="rId3"/>
          <a:stretch>
            <a:fillRect/>
          </a:stretch>
        </p:blipFill>
        <p:spPr>
          <a:xfrm>
            <a:off x="0" y="0"/>
            <a:ext cx="9144000" cy="5143500"/>
          </a:xfrm>
          <a:prstGeom prst="rect">
            <a:avLst/>
          </a:prstGeom>
        </p:spPr>
      </p:pic>
      <p:sp>
        <p:nvSpPr>
          <p:cNvPr id="5" name="TextBox 4"/>
          <p:cNvSpPr txBox="1"/>
          <p:nvPr/>
        </p:nvSpPr>
        <p:spPr>
          <a:xfrm>
            <a:off x="2636595" y="2342055"/>
            <a:ext cx="3826689" cy="446276"/>
          </a:xfrm>
          <a:prstGeom prst="rect">
            <a:avLst/>
          </a:prstGeom>
          <a:noFill/>
        </p:spPr>
        <p:txBody>
          <a:bodyPr wrap="none" rtlCol="0">
            <a:spAutoFit/>
          </a:bodyPr>
          <a:lstStyle/>
          <a:p>
            <a:r>
              <a:rPr lang="en-PH" sz="2300" b="1" dirty="0">
                <a:solidFill>
                  <a:schemeClr val="bg1"/>
                </a:solidFill>
                <a:latin typeface="Roboto Condensed" panose="02000000000000000000" charset="0"/>
                <a:ea typeface="Roboto Condensed" panose="02000000000000000000" charset="0"/>
              </a:rPr>
              <a:t>Fundamentals of Programming</a:t>
            </a:r>
          </a:p>
        </p:txBody>
      </p:sp>
      <p:sp>
        <p:nvSpPr>
          <p:cNvPr id="6" name="Rectangle: Rounded Corners 5"/>
          <p:cNvSpPr/>
          <p:nvPr/>
        </p:nvSpPr>
        <p:spPr>
          <a:xfrm>
            <a:off x="2636595" y="2850650"/>
            <a:ext cx="4072269" cy="57878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Wingdings" panose="05000000000000000000" pitchFamily="2" charset="2"/>
              <a:buNone/>
            </a:pPr>
            <a:r>
              <a:rPr lang="en-US" altLang="en-US" dirty="0"/>
              <a:t>LEO GABRIEL V. VILLANUEVA, MIT</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Introductory Concepts to Programming </a:t>
            </a:r>
          </a:p>
        </p:txBody>
      </p:sp>
      <p:sp>
        <p:nvSpPr>
          <p:cNvPr id="3" name="Text Placeholder 2"/>
          <p:cNvSpPr>
            <a:spLocks noGrp="1"/>
          </p:cNvSpPr>
          <p:nvPr>
            <p:ph type="body" idx="1"/>
          </p:nvPr>
        </p:nvSpPr>
        <p:spPr>
          <a:xfrm>
            <a:off x="140125" y="1308259"/>
            <a:ext cx="8463308" cy="2724300"/>
          </a:xfrm>
        </p:spPr>
        <p:txBody>
          <a:bodyPr/>
          <a:lstStyle/>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1.1 Computer Systems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1.2 Programming Tools</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1.3 Basic Steps in Problem Solving</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Definition</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Problem Analysis</a:t>
            </a:r>
          </a:p>
          <a:p>
            <a:pPr lvl="1"/>
            <a:r>
              <a:rPr lang="en-PH" sz="2200" dirty="0">
                <a:latin typeface="Roboto Condensed" panose="02000000000000000000" pitchFamily="2" charset="0"/>
                <a:ea typeface="Roboto Condensed" panose="02000000000000000000" pitchFamily="2" charset="0"/>
                <a:cs typeface="Roboto Condensed" panose="02000000000000000000" pitchFamily="2" charset="0"/>
              </a:rPr>
              <a:t>Algorithm Design &amp; Representation (Flowcharting)</a:t>
            </a:r>
          </a:p>
          <a:p>
            <a:r>
              <a:rPr lang="en-PH" sz="2200" dirty="0">
                <a:latin typeface="Roboto Condensed" panose="02000000000000000000" pitchFamily="2" charset="0"/>
                <a:ea typeface="Roboto Condensed" panose="02000000000000000000" pitchFamily="2" charset="0"/>
                <a:cs typeface="Roboto Condensed" panose="02000000000000000000" pitchFamily="2" charset="0"/>
              </a:rPr>
              <a:t>1.4 Coding &amp; Debugging</a:t>
            </a: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grpSp>
        <p:nvGrpSpPr>
          <p:cNvPr id="6" name="Google Shape;194;p12"/>
          <p:cNvGrpSpPr/>
          <p:nvPr/>
        </p:nvGrpSpPr>
        <p:grpSpPr>
          <a:xfrm>
            <a:off x="293683" y="574116"/>
            <a:ext cx="309041" cy="403123"/>
            <a:chOff x="590250" y="244200"/>
            <a:chExt cx="407975" cy="532175"/>
          </a:xfrm>
        </p:grpSpPr>
        <p:sp>
          <p:nvSpPr>
            <p:cNvPr id="7"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98B5-6A5F-B815-AA71-B92B53E5D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ED0B7-658C-6D0F-6FFD-CFF4EC43526E}"/>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E01BE5A1-306A-424F-1B38-39D808B336F0}"/>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1. Hardware vs.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Which component of a computer system refers to the tangible, physical parts you can touch, such as the Central Processing Unit (CPU) or Random Access Memory (RAM)?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Operating System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Hardware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Application Software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IDE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3B9E2673-67EB-3B8C-88CB-0AE7BE382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grpSp>
        <p:nvGrpSpPr>
          <p:cNvPr id="6" name="Google Shape;194;p12">
            <a:extLst>
              <a:ext uri="{FF2B5EF4-FFF2-40B4-BE49-F238E27FC236}">
                <a16:creationId xmlns:a16="http://schemas.microsoft.com/office/drawing/2014/main" id="{419EF2AB-C483-BAFE-0299-EC9DE09E53F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F0784F79-C7F7-4BC4-72CC-D785923AAB3D}"/>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3ABD4A4E-5E58-604B-496E-6DA8B7F79C15}"/>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7B19F3F4-F131-B6F9-D359-44760EF73C8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74C09F9F-002D-1BC7-649E-7B83CA6FC0A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34C318A1-DFEC-1C95-F388-1DF4B7635F0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1E8B8A04-2CDF-9B67-3ED5-C638AE532A71}"/>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0D84F2EF-C350-4419-24EA-9822FEC323E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E0C918EA-7C95-B06D-9AA6-30306EE838AB}"/>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F96A3BDF-2285-9740-112F-7BDEF3530E7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A754D96E-94A3-F56E-8356-68CCE1265ED3}"/>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7AF17C5-271D-1306-524E-C3648C20439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BDE0F00-CD78-30B2-3D42-B446293A5F34}"/>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F6E237C-E501-3879-9F19-8D64D4F36BE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3EE1F23C-63CA-9981-67E5-FA032D4E377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881745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3BF1-B249-3A6C-CE8E-254C70AD6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8DBA-CF87-7368-C920-DEBC221C2CE2}"/>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FE3E6AEE-78CC-DC2C-4D26-3CF123E838E3}"/>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2. Programming Tools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When translating source code into machine code, which tool translates and executes the code line-by-line on the fly, rather than translating the entire file at once?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Compiler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Text Editor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Interpreter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Operating System</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3583CB63-4998-30A2-0A63-E6B5BC1F8C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grpSp>
        <p:nvGrpSpPr>
          <p:cNvPr id="6" name="Google Shape;194;p12">
            <a:extLst>
              <a:ext uri="{FF2B5EF4-FFF2-40B4-BE49-F238E27FC236}">
                <a16:creationId xmlns:a16="http://schemas.microsoft.com/office/drawing/2014/main" id="{4C0A86F7-A78C-2E40-DCD5-FED3609D66FD}"/>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8466A0E-1C7B-1122-5FC8-AE2349E3B74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12E675F8-1B7D-E5B7-59C0-8C765FD0B5A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D42CE266-82A5-7582-5B29-53E483C54131}"/>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8BC58BB8-A62B-430B-C70D-DC57375FFFE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61CEFD91-53B3-8196-3A68-9DFC13A9422B}"/>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35477F1B-AC18-D265-9A63-425FAD75F639}"/>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17A41E80-75CE-0325-E28E-8F983B4C321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7519633D-6CBC-75F0-C49F-EA01313405E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96496599-769E-7020-38CF-48B5756F31A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438ADDE0-F10B-6E67-2D38-3C496FC511D1}"/>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56A42FAD-130B-8F35-1592-7960FC89457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ACD57EF8-2ED9-9F3B-AE70-EFD61646719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11B97E18-3F65-CE18-7452-2DED1C1CC314}"/>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D5A41D17-F376-E92C-D7A4-616A153EA05A}"/>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30026413"/>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D73E-0905-791F-2AD1-737C88D11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3E2E9-8662-0EF8-A5E9-0FF896599142}"/>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DCDCB60B-0DF6-EF44-2F0B-DCF3879A1AC8}"/>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3. Problem Definition</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What is the primary risk of skipping the "Problem Definition" phase when developing a program?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The code will run too slowly.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You risk building a brilliant solution to the wrong problem.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The computer will run out of 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The flowchart will have crossed lines.</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7A35E6F4-D60A-71FD-52B5-7DE7135D81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grpSp>
        <p:nvGrpSpPr>
          <p:cNvPr id="6" name="Google Shape;194;p12">
            <a:extLst>
              <a:ext uri="{FF2B5EF4-FFF2-40B4-BE49-F238E27FC236}">
                <a16:creationId xmlns:a16="http://schemas.microsoft.com/office/drawing/2014/main" id="{CF356D8C-3646-7C61-C414-9303DC088AE3}"/>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5AF0A1D4-0852-9ACA-CE02-9D8BC81311C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F8D034BB-FCE9-51E4-ED1B-325F0E356484}"/>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CCB191CD-DBD7-64CA-A44F-45417A940108}"/>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FDFE37D1-62BF-726A-F1D4-44F10F96F3A8}"/>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1F23C3A9-37FD-EB38-42ED-6A4DE8A9259A}"/>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D692F727-9A90-65F9-7882-8076AB49521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62352338-B3CD-5299-A7EA-A2E7171C7E6A}"/>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A10F47FB-0CD3-C426-98CF-24235F88C6F5}"/>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355F2BFC-8FCD-BFA6-73B4-D4544A6DC54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576FAB25-BE72-97EB-B8E6-749AB13E3AD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B5F14FB7-3DDD-8A25-8579-B4E79A50C29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1B9D8935-2C8F-039C-32F8-59E28BBB01B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A06062BF-1A62-855D-EDEC-EC6BDE0D24C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E8343712-AC19-E203-A8AC-2025E2D6993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6381303"/>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C729-9016-DAB7-0C73-71D5AC197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FBB1D-C9B3-DB20-14D0-F9B50E3FF84E}"/>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901C6849-51A5-9DB5-9C6D-3A2CD1A71B14}"/>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4. Problem Analysis (IPO Model)</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In the IPO (Input-Process-Output) model, which stage represents the logic, calculations, and step-by-step actions the program must perform to transform raw data into a final result?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Input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Process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Output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Storage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59DCDAE4-DB52-CCC7-80F8-48406EE960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grpSp>
        <p:nvGrpSpPr>
          <p:cNvPr id="6" name="Google Shape;194;p12">
            <a:extLst>
              <a:ext uri="{FF2B5EF4-FFF2-40B4-BE49-F238E27FC236}">
                <a16:creationId xmlns:a16="http://schemas.microsoft.com/office/drawing/2014/main" id="{1DD4C8BE-3674-221F-CB86-08AB0FA94AC4}"/>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4D6DBCCE-275E-93BB-B77F-21BD2049119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555B220B-1CDB-CD03-2E22-9188F6AC21B7}"/>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B6770705-93C7-C7B5-418D-C281C4F0BAB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C9714D29-1BE1-86C5-6E48-0C607FB3CA1C}"/>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5B1A2ABF-D17F-661C-A1DC-45F961A1E157}"/>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4B33A284-21A0-0E0B-0927-043B5A5F1E0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4C2A8845-C4E9-D82D-8A58-E77C98FC1ABA}"/>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BF8A6DA2-A581-FF3C-AF81-0C7786A7243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AEFC3EC1-B678-4957-B162-E09A11192430}"/>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FB9514E2-A63E-8B92-3631-1BEA477985FD}"/>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D2873392-9A65-6D63-9EA2-5B063651E8B0}"/>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3F3177D7-AAEF-1B6B-C4C9-5E58F70709C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C72126CC-3272-D8A2-7FF7-D7D37FA39B6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773611EC-5778-E7B3-6491-3D4660CCAD94}"/>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02622726"/>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3E21-ACCB-9CFC-DD41-1AD541150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5A0B8-850C-DF2B-B277-B9451EBA7888}"/>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D34E9285-6EC3-FB96-628B-4E2D91CAF855}"/>
              </a:ext>
            </a:extLst>
          </p:cNvPr>
          <p:cNvSpPr>
            <a:spLocks noGrp="1"/>
          </p:cNvSpPr>
          <p:nvPr>
            <p:ph type="body" idx="1"/>
          </p:nvPr>
        </p:nvSpPr>
        <p:spPr>
          <a:xfrm>
            <a:off x="140125" y="1308259"/>
            <a:ext cx="8463308" cy="2724300"/>
          </a:xfrm>
        </p:spPr>
        <p:txBody>
          <a:bodyPr/>
          <a:lstStyle/>
          <a:p>
            <a:r>
              <a:rPr lang="en-PH" sz="2400" b="1" dirty="0">
                <a:latin typeface="Roboto Condensed" panose="02000000000000000000" pitchFamily="2" charset="0"/>
                <a:ea typeface="Roboto Condensed" panose="02000000000000000000" pitchFamily="2" charset="0"/>
                <a:cs typeface="Roboto Condensed" panose="02000000000000000000" pitchFamily="2" charset="0"/>
              </a:rPr>
              <a:t>5. Flowcharting</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In standard algorithm flowcharting, which geometric symbol is used to ask a Yes/No or True/False question, splitting the path of the program?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a) Oval (Terminal)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b) Parallelogram (Input/Output)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c) Rectangle (Process)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d) Diamond (Decision)</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B3D1D236-F40D-1C58-2F79-6C6CC95E97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grpSp>
        <p:nvGrpSpPr>
          <p:cNvPr id="6" name="Google Shape;194;p12">
            <a:extLst>
              <a:ext uri="{FF2B5EF4-FFF2-40B4-BE49-F238E27FC236}">
                <a16:creationId xmlns:a16="http://schemas.microsoft.com/office/drawing/2014/main" id="{A8411AEF-B3FF-2B4A-8BDA-8C6C8FB760B2}"/>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4268E257-C4EE-8A85-5812-8AA0A34A700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C4487B40-0387-DBEE-49BE-B3D170773FBD}"/>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4D04CC72-0558-8B2F-C7B6-DD92B7122E0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DC066ADF-8F6B-0F39-9C57-D7E30FE89998}"/>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C9CD2C43-CECA-FFD4-EA5B-6B9E12138FE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E3A8324D-D916-16FD-8DE9-729126CF1BDB}"/>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B3D66C32-A9DD-2E0D-7AA5-15E47848586B}"/>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0E9CAB05-C1E3-DAA2-23B6-56AB9C760076}"/>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AF7A1C63-7B2F-9567-6671-2BE790F27C9E}"/>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4B08AF7B-2C1C-C3B7-9BF0-A1ED63B1EFBC}"/>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2BBAED17-29E3-7F50-3D18-DEB418A71AF6}"/>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7A911235-E943-A03A-DAA9-1A679AE062AF}"/>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DEDE0836-E87C-AB91-FCC2-9F0FB51605F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EFA84E7B-2FEA-2F07-43FE-3C221A5F5F0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2725697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2EE0-BEFB-D95C-49CF-45E73000C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5E844-CED8-A609-2FF5-CA8D99DEEB44}"/>
              </a:ext>
            </a:extLst>
          </p:cNvPr>
          <p:cNvSpPr>
            <a:spLocks noGrp="1"/>
          </p:cNvSpPr>
          <p:nvPr>
            <p:ph type="title"/>
          </p:nvPr>
        </p:nvSpPr>
        <p:spPr/>
        <p:txBody>
          <a:bodyPr/>
          <a:lstStyle/>
          <a:p>
            <a:r>
              <a:rPr lang="en-PH" dirty="0"/>
              <a:t>Pretest : Introductory Concepts to Programming </a:t>
            </a:r>
          </a:p>
        </p:txBody>
      </p:sp>
      <p:sp>
        <p:nvSpPr>
          <p:cNvPr id="3" name="Text Placeholder 2">
            <a:extLst>
              <a:ext uri="{FF2B5EF4-FFF2-40B4-BE49-F238E27FC236}">
                <a16:creationId xmlns:a16="http://schemas.microsoft.com/office/drawing/2014/main" id="{ED8F7BA7-D1E2-5DD4-4FF0-445323ECD8E9}"/>
              </a:ext>
            </a:extLst>
          </p:cNvPr>
          <p:cNvSpPr>
            <a:spLocks noGrp="1"/>
          </p:cNvSpPr>
          <p:nvPr>
            <p:ph type="body" idx="1"/>
          </p:nvPr>
        </p:nvSpPr>
        <p:spPr>
          <a:xfrm>
            <a:off x="140125" y="1308259"/>
            <a:ext cx="8463308" cy="2724300"/>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Answer Key for the Instructor</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Hardware</a:t>
            </a:r>
            <a:r>
              <a:rPr lang="en-PH" dirty="0">
                <a:latin typeface="Roboto Condensed" panose="02000000000000000000" pitchFamily="2" charset="0"/>
                <a:ea typeface="Roboto Condensed" panose="02000000000000000000" pitchFamily="2" charset="0"/>
                <a:cs typeface="Roboto Condensed" panose="02000000000000000000" pitchFamily="2" charset="0"/>
              </a:rPr>
              <a:t> - Hardware refers to the tangible parts of the computer.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c) Interpreter</a:t>
            </a:r>
            <a:r>
              <a:rPr lang="en-PH" dirty="0">
                <a:latin typeface="Roboto Condensed" panose="02000000000000000000" pitchFamily="2" charset="0"/>
                <a:ea typeface="Roboto Condensed" panose="02000000000000000000" pitchFamily="2" charset="0"/>
                <a:cs typeface="Roboto Condensed" panose="02000000000000000000" pitchFamily="2" charset="0"/>
              </a:rPr>
              <a:t> - An interpreter translates and executes code line-by-line, on the fly.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You risk building a brilliant solution to the wrong problem.</a:t>
            </a:r>
            <a:r>
              <a:rPr lang="en-PH" dirty="0">
                <a:latin typeface="Roboto Condensed" panose="02000000000000000000" pitchFamily="2" charset="0"/>
                <a:ea typeface="Roboto Condensed" panose="02000000000000000000" pitchFamily="2" charset="0"/>
                <a:cs typeface="Roboto Condensed" panose="02000000000000000000" pitchFamily="2" charset="0"/>
              </a:rPr>
              <a:t> - If you skip problem definition, you risk building a solution for the wrong problem.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b) Process</a:t>
            </a:r>
            <a:r>
              <a:rPr lang="en-PH" dirty="0">
                <a:latin typeface="Roboto Condensed" panose="02000000000000000000" pitchFamily="2" charset="0"/>
                <a:ea typeface="Roboto Condensed" panose="02000000000000000000" pitchFamily="2" charset="0"/>
                <a:cs typeface="Roboto Condensed" panose="02000000000000000000" pitchFamily="2" charset="0"/>
              </a:rPr>
              <a:t> - Processes are the logic, calculations, or steps the program performs to transform input into output. </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d) Diamond (Decision)</a:t>
            </a:r>
            <a:r>
              <a:rPr lang="en-PH" dirty="0">
                <a:latin typeface="Roboto Condensed" panose="02000000000000000000" pitchFamily="2" charset="0"/>
                <a:ea typeface="Roboto Condensed" panose="02000000000000000000" pitchFamily="2" charset="0"/>
                <a:cs typeface="Roboto Condensed" panose="02000000000000000000" pitchFamily="2" charset="0"/>
              </a:rPr>
              <a:t> - The diamond symbol asks a Yes/No or True/False question, splitting the program's path. </a:t>
            </a:r>
          </a:p>
        </p:txBody>
      </p:sp>
      <p:sp>
        <p:nvSpPr>
          <p:cNvPr id="5" name="Slide Number Placeholder 4">
            <a:extLst>
              <a:ext uri="{FF2B5EF4-FFF2-40B4-BE49-F238E27FC236}">
                <a16:creationId xmlns:a16="http://schemas.microsoft.com/office/drawing/2014/main" id="{DAD95ECC-0128-08D6-E14B-0E1638D7F7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grpSp>
        <p:nvGrpSpPr>
          <p:cNvPr id="6" name="Google Shape;194;p12">
            <a:extLst>
              <a:ext uri="{FF2B5EF4-FFF2-40B4-BE49-F238E27FC236}">
                <a16:creationId xmlns:a16="http://schemas.microsoft.com/office/drawing/2014/main" id="{9CCEB1E5-E905-A469-4BF5-17100ED3BDBF}"/>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1D9B2250-3BED-6D18-9F3A-907E0E4F52B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A467A67C-3D7A-B7AF-E5BC-A2E8153B9210}"/>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9C016CC5-1B6A-910B-2B23-D425D0904166}"/>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02507548-6600-BC88-D03B-71C6D270BBE5}"/>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F0B38B6C-3D8F-3791-EF8C-7FC618EF2531}"/>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160FFB0E-8B47-6CB8-9F58-199D0C641E8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98E09886-BF97-D5E9-3BD1-06F433B3157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C20A8AB0-6737-A1ED-4D6F-47F58DD6C5B6}"/>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429C7411-58F0-2F32-2C31-591D1A07677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25C9BDC5-331C-808B-2443-39BCB99DA02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7C8C693A-2341-7A5C-038F-D116F820D741}"/>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F036E045-6F31-0599-E250-3819517965B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997D2D08-C24E-BEC2-8E68-10D14367368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9BA2AF86-2437-80AB-563F-C356928FBF4F}"/>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03602924"/>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19E6-3F61-88A3-3BA4-ED9E221EE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C1BE2-D66E-C129-BE9C-C56A2240F32A}"/>
              </a:ext>
            </a:extLst>
          </p:cNvPr>
          <p:cNvSpPr>
            <a:spLocks noGrp="1"/>
          </p:cNvSpPr>
          <p:nvPr>
            <p:ph type="title"/>
          </p:nvPr>
        </p:nvSpPr>
        <p:spPr/>
        <p:txBody>
          <a:bodyPr/>
          <a:lstStyle/>
          <a:p>
            <a:r>
              <a:rPr lang="en-PH" dirty="0"/>
              <a:t>1.1 Computer Systems</a:t>
            </a:r>
          </a:p>
        </p:txBody>
      </p:sp>
      <p:sp>
        <p:nvSpPr>
          <p:cNvPr id="3" name="Text Placeholder 2">
            <a:extLst>
              <a:ext uri="{FF2B5EF4-FFF2-40B4-BE49-F238E27FC236}">
                <a16:creationId xmlns:a16="http://schemas.microsoft.com/office/drawing/2014/main" id="{18A778AE-D4A7-9798-3A38-D3516126536C}"/>
              </a:ext>
            </a:extLst>
          </p:cNvPr>
          <p:cNvSpPr>
            <a:spLocks noGrp="1"/>
          </p:cNvSpPr>
          <p:nvPr>
            <p:ph type="body" idx="1"/>
          </p:nvPr>
        </p:nvSpPr>
        <p:spPr>
          <a:xfrm>
            <a:off x="140125" y="1308259"/>
            <a:ext cx="8463308" cy="2724300"/>
          </a:xfrm>
        </p:spPr>
        <p:txBody>
          <a:bodyPr/>
          <a:lstStyle/>
          <a:p>
            <a:pPr marL="101600" indent="0">
              <a:buNone/>
            </a:pP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Computer system</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is a machine that takes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input</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processes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that information, and produces an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output</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Every computer system relies on a partnership between two elements: </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Hardware</a:t>
            </a:r>
          </a:p>
          <a:p>
            <a:r>
              <a:rPr lang="en-PH" sz="2400" dirty="0">
                <a:latin typeface="Roboto Condensed" panose="02000000000000000000" pitchFamily="2" charset="0"/>
                <a:ea typeface="Roboto Condensed" panose="02000000000000000000" pitchFamily="2" charset="0"/>
                <a:cs typeface="Roboto Condensed" panose="02000000000000000000" pitchFamily="2" charset="0"/>
              </a:rPr>
              <a:t>Software</a:t>
            </a:r>
            <a:endParaRPr lang="en-PH" sz="22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Slide Number Placeholder 4">
            <a:extLst>
              <a:ext uri="{FF2B5EF4-FFF2-40B4-BE49-F238E27FC236}">
                <a16:creationId xmlns:a16="http://schemas.microsoft.com/office/drawing/2014/main" id="{87BB50A5-45B5-5F23-CCDA-059BC0E075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grpSp>
        <p:nvGrpSpPr>
          <p:cNvPr id="6" name="Google Shape;194;p12">
            <a:extLst>
              <a:ext uri="{FF2B5EF4-FFF2-40B4-BE49-F238E27FC236}">
                <a16:creationId xmlns:a16="http://schemas.microsoft.com/office/drawing/2014/main" id="{01D213FF-35DD-5D1E-8E9E-62E0A6ACDA7B}"/>
              </a:ext>
            </a:extLst>
          </p:cNvPr>
          <p:cNvGrpSpPr/>
          <p:nvPr/>
        </p:nvGrpSpPr>
        <p:grpSpPr>
          <a:xfrm>
            <a:off x="293683" y="574116"/>
            <a:ext cx="309041" cy="403123"/>
            <a:chOff x="590250" y="244200"/>
            <a:chExt cx="407975" cy="532175"/>
          </a:xfrm>
        </p:grpSpPr>
        <p:sp>
          <p:nvSpPr>
            <p:cNvPr id="7" name="Google Shape;195;p12">
              <a:extLst>
                <a:ext uri="{FF2B5EF4-FFF2-40B4-BE49-F238E27FC236}">
                  <a16:creationId xmlns:a16="http://schemas.microsoft.com/office/drawing/2014/main" id="{D95B1368-2AA4-CE10-8B1A-3E94E9D38B5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6;p12">
              <a:extLst>
                <a:ext uri="{FF2B5EF4-FFF2-40B4-BE49-F238E27FC236}">
                  <a16:creationId xmlns:a16="http://schemas.microsoft.com/office/drawing/2014/main" id="{88C09F89-9A79-63FF-74F7-3B706000AF7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7;p12">
              <a:extLst>
                <a:ext uri="{FF2B5EF4-FFF2-40B4-BE49-F238E27FC236}">
                  <a16:creationId xmlns:a16="http://schemas.microsoft.com/office/drawing/2014/main" id="{90E94091-5657-C0B5-1185-354F77DAED2E}"/>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8;p12">
              <a:extLst>
                <a:ext uri="{FF2B5EF4-FFF2-40B4-BE49-F238E27FC236}">
                  <a16:creationId xmlns:a16="http://schemas.microsoft.com/office/drawing/2014/main" id="{336B922C-D890-0401-D5E2-D761AA78932C}"/>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9;p12">
              <a:extLst>
                <a:ext uri="{FF2B5EF4-FFF2-40B4-BE49-F238E27FC236}">
                  <a16:creationId xmlns:a16="http://schemas.microsoft.com/office/drawing/2014/main" id="{FC6B0539-56B6-614E-9FEB-BE7E8E239DEF}"/>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p12">
              <a:extLst>
                <a:ext uri="{FF2B5EF4-FFF2-40B4-BE49-F238E27FC236}">
                  <a16:creationId xmlns:a16="http://schemas.microsoft.com/office/drawing/2014/main" id="{F191F778-DE79-792C-BD05-9417BA3CADD4}"/>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1;p12">
              <a:extLst>
                <a:ext uri="{FF2B5EF4-FFF2-40B4-BE49-F238E27FC236}">
                  <a16:creationId xmlns:a16="http://schemas.microsoft.com/office/drawing/2014/main" id="{CDA37C50-710F-5D9F-31F4-1841F58C5DD1}"/>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p12">
              <a:extLst>
                <a:ext uri="{FF2B5EF4-FFF2-40B4-BE49-F238E27FC236}">
                  <a16:creationId xmlns:a16="http://schemas.microsoft.com/office/drawing/2014/main" id="{1CC77E37-688D-366C-E4AD-E8D5C09F45D3}"/>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3;p12">
              <a:extLst>
                <a:ext uri="{FF2B5EF4-FFF2-40B4-BE49-F238E27FC236}">
                  <a16:creationId xmlns:a16="http://schemas.microsoft.com/office/drawing/2014/main" id="{DA4EA813-C813-4AE8-5C35-D066D852CD68}"/>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4;p12">
              <a:extLst>
                <a:ext uri="{FF2B5EF4-FFF2-40B4-BE49-F238E27FC236}">
                  <a16:creationId xmlns:a16="http://schemas.microsoft.com/office/drawing/2014/main" id="{5BC7E257-9DEB-3117-638D-7A6FD2848CE5}"/>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5;p12">
              <a:extLst>
                <a:ext uri="{FF2B5EF4-FFF2-40B4-BE49-F238E27FC236}">
                  <a16:creationId xmlns:a16="http://schemas.microsoft.com/office/drawing/2014/main" id="{78CC3994-8536-B8B2-A02B-E17C6C80951F}"/>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6;p12">
              <a:extLst>
                <a:ext uri="{FF2B5EF4-FFF2-40B4-BE49-F238E27FC236}">
                  <a16:creationId xmlns:a16="http://schemas.microsoft.com/office/drawing/2014/main" id="{E4F412B1-54BC-1122-99AC-A90669383510}"/>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p12">
              <a:extLst>
                <a:ext uri="{FF2B5EF4-FFF2-40B4-BE49-F238E27FC236}">
                  <a16:creationId xmlns:a16="http://schemas.microsoft.com/office/drawing/2014/main" id="{9B688933-9F35-C514-3A21-522624F57A7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8;p12">
              <a:extLst>
                <a:ext uri="{FF2B5EF4-FFF2-40B4-BE49-F238E27FC236}">
                  <a16:creationId xmlns:a16="http://schemas.microsoft.com/office/drawing/2014/main" id="{C9493D24-0E4F-5072-DBA7-8484A2ADC8E0}"/>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52941631"/>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10</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p:cNvSpPr>
            <a:spLocks noGrp="1"/>
          </p:cNvSpPr>
          <p:nvPr>
            <p:ph type="body" idx="2"/>
          </p:nvPr>
        </p:nvSpPr>
        <p:spPr>
          <a:xfrm>
            <a:off x="293683" y="1200267"/>
            <a:ext cx="8041852" cy="2807776"/>
          </a:xfrm>
        </p:spPr>
        <p:txBody>
          <a:bodyPr/>
          <a:lstStyle/>
          <a:p>
            <a:r>
              <a:rPr lang="en-PH" b="1" dirty="0">
                <a:latin typeface="Roboto Condensed" panose="02000000000000000000" pitchFamily="2" charset="0"/>
                <a:ea typeface="Roboto Condensed" panose="02000000000000000000" pitchFamily="2" charset="0"/>
                <a:cs typeface="Roboto Condensed" panose="02000000000000000000" pitchFamily="2" charset="0"/>
              </a:rPr>
              <a:t>Hardware (The Physical Machine)</a:t>
            </a:r>
          </a:p>
          <a:p>
            <a:r>
              <a:rPr lang="en-PH" dirty="0">
                <a:latin typeface="Roboto Condensed" panose="02000000000000000000" pitchFamily="2" charset="0"/>
                <a:ea typeface="Roboto Condensed" panose="02000000000000000000" pitchFamily="2" charset="0"/>
                <a:cs typeface="Roboto Condensed" panose="02000000000000000000" pitchFamily="2" charset="0"/>
              </a:rPr>
              <a:t>Hardware refers to the tangible parts of the computer—the things you can physically touch. When you write a program, you are ultimately writing instructions that control these physical components.</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CPU (Central Processing Unit):</a:t>
            </a:r>
            <a:r>
              <a:rPr lang="en-PH" dirty="0">
                <a:latin typeface="Roboto Condensed" panose="02000000000000000000" pitchFamily="2" charset="0"/>
                <a:ea typeface="Roboto Condensed" panose="02000000000000000000" pitchFamily="2" charset="0"/>
                <a:cs typeface="Roboto Condensed" panose="02000000000000000000" pitchFamily="2" charset="0"/>
              </a:rPr>
              <a:t> The "brain" of the computer. It executes the actual instructions in your code, performing calculations and logic operations.</a:t>
            </a:r>
          </a:p>
          <a:p>
            <a:endParaRPr lang="en-PH" b="1"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0DC8D271-21D2-27DC-35D8-4322D623863B}"/>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0C75BBB3-FA3F-3B35-EE62-B2B5D97AA6F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82A06E9A-2912-7B03-B5D1-E51AB7065F50}"/>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11</a:t>
            </a:fld>
            <a:endParaRPr lang="en-GB"/>
          </a:p>
        </p:txBody>
      </p:sp>
      <p:grpSp>
        <p:nvGrpSpPr>
          <p:cNvPr id="194" name="Google Shape;194;p12">
            <a:extLst>
              <a:ext uri="{FF2B5EF4-FFF2-40B4-BE49-F238E27FC236}">
                <a16:creationId xmlns:a16="http://schemas.microsoft.com/office/drawing/2014/main" id="{B2D0CC08-855A-D0F0-30C1-1947BC01A8BD}"/>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EE222A28-1570-634E-3B9D-958F76EEF6B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CCA5CB90-0F87-47AA-F1B3-76D5B9BBF3FF}"/>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33A7A85F-28F0-7C3E-FE45-89FE94FD420D}"/>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DA9FA514-AEDD-9C83-DACB-ADC939C46D76}"/>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F1A62AD7-A1AD-2523-FE3C-256E6F882ED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CF5F986-9D58-2575-9021-8C6EF408730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D733EC7-099E-9465-A784-8D1E756464EE}"/>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BB6211A9-42AA-C03C-B351-A7F319BFD7C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94430BCB-9ABD-8F20-DAFC-672FDA089CA5}"/>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F1672AD3-7C7D-66DE-8209-51FAEE3C1B70}"/>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B73901D-7469-34F0-34D1-8E85DDF7525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F8D93D4-5E84-2B2C-F6C3-BBFC26775F6C}"/>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DF9FDA35-FF0A-4B2B-0EB4-261279D8C80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517E3FC8-84E5-BC64-30F6-1D439839136E}"/>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a:extLst>
              <a:ext uri="{FF2B5EF4-FFF2-40B4-BE49-F238E27FC236}">
                <a16:creationId xmlns:a16="http://schemas.microsoft.com/office/drawing/2014/main" id="{89F96DBB-F885-0D99-991C-AA962A71E8A1}"/>
              </a:ext>
            </a:extLst>
          </p:cNvPr>
          <p:cNvSpPr>
            <a:spLocks noGrp="1"/>
          </p:cNvSpPr>
          <p:nvPr>
            <p:ph type="body" idx="2"/>
          </p:nvPr>
        </p:nvSpPr>
        <p:spPr>
          <a:xfrm>
            <a:off x="293683" y="1200267"/>
            <a:ext cx="5509874" cy="2807776"/>
          </a:xfrm>
        </p:spPr>
        <p:txBody>
          <a:bodyPr/>
          <a:lstStyle/>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RAM (Random Access Memory):</a:t>
            </a:r>
            <a:r>
              <a:rPr lang="en-PH" dirty="0">
                <a:latin typeface="Roboto Condensed" panose="02000000000000000000" pitchFamily="2" charset="0"/>
                <a:ea typeface="Roboto Condensed" panose="02000000000000000000" pitchFamily="2" charset="0"/>
                <a:cs typeface="Roboto Condensed" panose="02000000000000000000" pitchFamily="2" charset="0"/>
              </a:rPr>
              <a:t> The short-term memory. When your program is running, the computer stores the data it is actively using in the RAM because it can be read incredibly fast. When the computer turns off, RAM is wiped clean.</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Storage (Hard Drive/SSD):</a:t>
            </a:r>
            <a:r>
              <a:rPr lang="en-PH" dirty="0">
                <a:latin typeface="Roboto Condensed" panose="02000000000000000000" pitchFamily="2" charset="0"/>
                <a:ea typeface="Roboto Condensed" panose="02000000000000000000" pitchFamily="2" charset="0"/>
                <a:cs typeface="Roboto Condensed" panose="02000000000000000000" pitchFamily="2" charset="0"/>
              </a:rPr>
              <a:t> The long-term memory. This is where your code, files, and operating system live permanently, even when the power is off.</a:t>
            </a:r>
          </a:p>
        </p:txBody>
      </p:sp>
      <p:pic>
        <p:nvPicPr>
          <p:cNvPr id="3" name="Picture 2">
            <a:extLst>
              <a:ext uri="{FF2B5EF4-FFF2-40B4-BE49-F238E27FC236}">
                <a16:creationId xmlns:a16="http://schemas.microsoft.com/office/drawing/2014/main" id="{83ADB69B-31C0-91B0-F57F-71216E2EABAE}"/>
              </a:ext>
            </a:extLst>
          </p:cNvPr>
          <p:cNvPicPr>
            <a:picLocks noChangeAspect="1"/>
          </p:cNvPicPr>
          <p:nvPr/>
        </p:nvPicPr>
        <p:blipFill>
          <a:blip r:embed="rId3"/>
          <a:stretch>
            <a:fillRect/>
          </a:stretch>
        </p:blipFill>
        <p:spPr>
          <a:xfrm>
            <a:off x="5844746" y="1168744"/>
            <a:ext cx="3299254" cy="3299254"/>
          </a:xfrm>
          <a:prstGeom prst="rect">
            <a:avLst/>
          </a:prstGeom>
        </p:spPr>
      </p:pic>
    </p:spTree>
    <p:extLst>
      <p:ext uri="{BB962C8B-B14F-4D97-AF65-F5344CB8AC3E}">
        <p14:creationId xmlns:p14="http://schemas.microsoft.com/office/powerpoint/2010/main" val="30795350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6644D853-CA3A-01CC-6787-AF41664FACB3}"/>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51A78BF-F8D4-8C0A-F2EC-43C40129BCA7}"/>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1.1 Computer Systems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30130A7F-739B-C991-A137-069A7F2469D6}"/>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12</a:t>
            </a:fld>
            <a:endParaRPr lang="en-GB"/>
          </a:p>
        </p:txBody>
      </p:sp>
      <p:grpSp>
        <p:nvGrpSpPr>
          <p:cNvPr id="194" name="Google Shape;194;p12">
            <a:extLst>
              <a:ext uri="{FF2B5EF4-FFF2-40B4-BE49-F238E27FC236}">
                <a16:creationId xmlns:a16="http://schemas.microsoft.com/office/drawing/2014/main" id="{11562615-DE51-0799-0E13-30C183A8324E}"/>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4AEDD81B-C33D-DA8A-8DF2-7FEF1840706A}"/>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2A2DECB1-7149-F3D6-B4AD-6B94D98755E9}"/>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54E7BDA-F51B-43EB-4D8D-0D45ECDDF2C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027C2BF8-1E43-CFC8-8911-C46336F36ADF}"/>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67F8EEBA-8E83-628E-BAEF-0B6E0455EB9E}"/>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72B7009D-F56D-4719-1341-A39DB8267000}"/>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791E8DE-0EDD-BCE7-E538-50FD81E91C59}"/>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8C503C8C-2572-AD3A-D17C-F5DE04D67487}"/>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103AD2D4-23A7-0B37-F0DB-0F0081E1775F}"/>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613D335-C874-F975-5C7E-0F9BAE047F5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72DD9CD1-FD43-A580-5435-D71F9CF93CB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5063A58D-D61B-BCC8-FDFD-28757C61C77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9CDFA4CF-72CB-5814-42A3-62A1E69ECDA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08620CBD-58EB-8255-6DCF-0FA13EE33374}"/>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a:extLst>
              <a:ext uri="{FF2B5EF4-FFF2-40B4-BE49-F238E27FC236}">
                <a16:creationId xmlns:a16="http://schemas.microsoft.com/office/drawing/2014/main" id="{BD4894FB-C7F4-9B44-6B89-6EE1CCEB6034}"/>
              </a:ext>
            </a:extLst>
          </p:cNvPr>
          <p:cNvSpPr>
            <a:spLocks noGrp="1"/>
          </p:cNvSpPr>
          <p:nvPr>
            <p:ph type="body" idx="2"/>
          </p:nvPr>
        </p:nvSpPr>
        <p:spPr>
          <a:xfrm>
            <a:off x="293683" y="1200267"/>
            <a:ext cx="5522231" cy="2807776"/>
          </a:xfrm>
        </p:spPr>
        <p:txBody>
          <a:bodyPr/>
          <a:lstStyle/>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RAM (Random Access Memory):</a:t>
            </a:r>
            <a:r>
              <a:rPr lang="en-PH" dirty="0">
                <a:latin typeface="Roboto Condensed" panose="02000000000000000000" pitchFamily="2" charset="0"/>
                <a:ea typeface="Roboto Condensed" panose="02000000000000000000" pitchFamily="2" charset="0"/>
                <a:cs typeface="Roboto Condensed" panose="02000000000000000000" pitchFamily="2" charset="0"/>
              </a:rPr>
              <a:t> The short-term memory. When your program is running, the computer stores the data it is actively using in the RAM because it can be read incredibly fast. When the computer turns off, RAM is wiped clean.</a:t>
            </a:r>
          </a:p>
          <a:p>
            <a:pPr lvl="0"/>
            <a:r>
              <a:rPr lang="en-PH" b="1" dirty="0">
                <a:latin typeface="Roboto Condensed" panose="02000000000000000000" pitchFamily="2" charset="0"/>
                <a:ea typeface="Roboto Condensed" panose="02000000000000000000" pitchFamily="2" charset="0"/>
                <a:cs typeface="Roboto Condensed" panose="02000000000000000000" pitchFamily="2" charset="0"/>
              </a:rPr>
              <a:t>Storage (Hard Drive/SSD):</a:t>
            </a:r>
            <a:r>
              <a:rPr lang="en-PH" dirty="0">
                <a:latin typeface="Roboto Condensed" panose="02000000000000000000" pitchFamily="2" charset="0"/>
                <a:ea typeface="Roboto Condensed" panose="02000000000000000000" pitchFamily="2" charset="0"/>
                <a:cs typeface="Roboto Condensed" panose="02000000000000000000" pitchFamily="2" charset="0"/>
              </a:rPr>
              <a:t> The long-term memory. This is where your code, files, and operating system live permanently, even when the power is off.</a:t>
            </a:r>
          </a:p>
        </p:txBody>
      </p:sp>
      <p:pic>
        <p:nvPicPr>
          <p:cNvPr id="3" name="Picture 2">
            <a:extLst>
              <a:ext uri="{FF2B5EF4-FFF2-40B4-BE49-F238E27FC236}">
                <a16:creationId xmlns:a16="http://schemas.microsoft.com/office/drawing/2014/main" id="{1E44A349-40C9-D6F9-DE76-B9B08C124DA8}"/>
              </a:ext>
            </a:extLst>
          </p:cNvPr>
          <p:cNvPicPr>
            <a:picLocks noChangeAspect="1"/>
          </p:cNvPicPr>
          <p:nvPr/>
        </p:nvPicPr>
        <p:blipFill>
          <a:blip r:embed="rId3"/>
          <a:stretch>
            <a:fillRect/>
          </a:stretch>
        </p:blipFill>
        <p:spPr>
          <a:xfrm>
            <a:off x="5844746" y="1168744"/>
            <a:ext cx="3299254" cy="3299254"/>
          </a:xfrm>
          <a:prstGeom prst="rect">
            <a:avLst/>
          </a:prstGeom>
        </p:spPr>
      </p:pic>
    </p:spTree>
    <p:extLst>
      <p:ext uri="{BB962C8B-B14F-4D97-AF65-F5344CB8AC3E}">
        <p14:creationId xmlns:p14="http://schemas.microsoft.com/office/powerpoint/2010/main" val="1483954352"/>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Software (The Instructions)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13</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p:cNvSpPr>
            <a:spLocks noGrp="1"/>
          </p:cNvSpPr>
          <p:nvPr>
            <p:ph type="body" idx="2"/>
          </p:nvPr>
        </p:nvSpPr>
        <p:spPr>
          <a:xfrm>
            <a:off x="58905" y="1238541"/>
            <a:ext cx="8533160" cy="2807776"/>
          </a:xfrm>
        </p:spPr>
        <p:txBody>
          <a:bodyPr/>
          <a:lstStyle/>
          <a:p>
            <a:r>
              <a:rPr lang="en-PH" sz="2400" dirty="0">
                <a:latin typeface="Roboto Condensed" panose="02000000000000000000" pitchFamily="2" charset="0"/>
                <a:ea typeface="Roboto Condensed" panose="02000000000000000000" pitchFamily="2" charset="0"/>
                <a:cs typeface="Roboto Condensed" panose="02000000000000000000" pitchFamily="2" charset="0"/>
              </a:rPr>
              <a:t>Software is the intangible set of instructions that tells the hardware what to do.</a:t>
            </a:r>
          </a:p>
          <a:p>
            <a:pPr lvl="0"/>
            <a:r>
              <a:rPr lang="en-PH" sz="2400" b="1" dirty="0">
                <a:latin typeface="Roboto Condensed" panose="02000000000000000000" pitchFamily="2" charset="0"/>
                <a:ea typeface="Roboto Condensed" panose="02000000000000000000" pitchFamily="2" charset="0"/>
                <a:cs typeface="Roboto Condensed" panose="02000000000000000000" pitchFamily="2" charset="0"/>
              </a:rPr>
              <a:t>System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The core software that manages the hardware. The most important piece is the </a:t>
            </a:r>
            <a:r>
              <a:rPr lang="en-PH" sz="2400" b="1" dirty="0">
                <a:latin typeface="Roboto Condensed" panose="02000000000000000000" pitchFamily="2" charset="0"/>
                <a:ea typeface="Roboto Condensed" panose="02000000000000000000" pitchFamily="2" charset="0"/>
                <a:cs typeface="Roboto Condensed" panose="02000000000000000000" pitchFamily="2" charset="0"/>
              </a:rPr>
              <a:t>Operating System (OS)</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like Windows, macOS, or Linux. It acts as the middleman between your programs and the physical hardware.</a:t>
            </a:r>
          </a:p>
          <a:p>
            <a:pPr lvl="0"/>
            <a:r>
              <a:rPr lang="en-PH" sz="2400" b="1" dirty="0">
                <a:latin typeface="Roboto Condensed" panose="02000000000000000000" pitchFamily="2" charset="0"/>
                <a:ea typeface="Roboto Condensed" panose="02000000000000000000" pitchFamily="2" charset="0"/>
                <a:cs typeface="Roboto Condensed" panose="02000000000000000000" pitchFamily="2" charset="0"/>
              </a:rPr>
              <a:t>Application Software:</a:t>
            </a:r>
            <a:r>
              <a:rPr lang="en-PH" sz="2400" dirty="0">
                <a:latin typeface="Roboto Condensed" panose="02000000000000000000" pitchFamily="2" charset="0"/>
                <a:ea typeface="Roboto Condensed" panose="02000000000000000000" pitchFamily="2" charset="0"/>
                <a:cs typeface="Roboto Condensed" panose="02000000000000000000" pitchFamily="2" charset="0"/>
              </a:rPr>
              <a:t> The programs you use every day, like web browsers, video games, or word processors. As a programmer, this is usually what you are building.</a:t>
            </a: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ECE431FA-D8BA-305A-DFCC-62804A5DBEB0}"/>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91DBA693-84C3-9FB9-9976-B1668A563F0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40DC9E8E-9B39-214B-D925-47B92F5B3FD7}"/>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14</a:t>
            </a:fld>
            <a:endParaRPr lang="en-GB"/>
          </a:p>
        </p:txBody>
      </p:sp>
      <p:grpSp>
        <p:nvGrpSpPr>
          <p:cNvPr id="194" name="Google Shape;194;p12">
            <a:extLst>
              <a:ext uri="{FF2B5EF4-FFF2-40B4-BE49-F238E27FC236}">
                <a16:creationId xmlns:a16="http://schemas.microsoft.com/office/drawing/2014/main" id="{4EACB444-73A5-8492-17DF-1ABF94371434}"/>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D2782608-2143-EDA7-D683-ABBBA0F0430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1AC040A-1BB2-F965-B46C-DE8228FE8F14}"/>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4BCE0CC3-A133-4818-D1E3-F93DF39BBBC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3A03B8B9-50B5-9E2B-633F-72549E16284B}"/>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F521560E-9A73-BC9B-FC5A-56FF536B9EF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90804F7E-262D-DA72-9542-FDEA25A8D3E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993278C0-A5C9-12B2-74E3-8E8F86DF5E60}"/>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51663DED-7617-7FDE-7546-C32FB0DD09C0}"/>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03FBDB6-CF13-8920-0EA7-855B98DC653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3C87E31-D7A2-4144-44C9-4105FFB5F4DC}"/>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B545461-9A3F-7A26-8D1B-7699099911FB}"/>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19DBE3F-38B4-1129-D832-164EE4A5C120}"/>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30D09F37-DC2B-8990-4EEC-6920EE4166A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81D9D107-9AFC-BC46-15F4-0D77851F65E8}"/>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B4C4C60A-DD5B-D7F0-8984-5EC908E17811}"/>
              </a:ext>
            </a:extLst>
          </p:cNvPr>
          <p:cNvSpPr>
            <a:spLocks noGrp="1"/>
          </p:cNvSpPr>
          <p:nvPr>
            <p:ph type="body" idx="2"/>
          </p:nvPr>
        </p:nvSpPr>
        <p:spPr>
          <a:xfrm>
            <a:off x="58906" y="1238541"/>
            <a:ext cx="5691106" cy="2807776"/>
          </a:xfrm>
        </p:spPr>
        <p:txBody>
          <a:bodyPr/>
          <a:lstStyle/>
          <a:p>
            <a:r>
              <a:rPr lang="en-PH" sz="2100" dirty="0">
                <a:latin typeface="Roboto Condensed" panose="02000000000000000000" pitchFamily="2" charset="0"/>
                <a:ea typeface="Roboto Condensed" panose="02000000000000000000" pitchFamily="2" charset="0"/>
                <a:cs typeface="Roboto Condensed" panose="02000000000000000000" pitchFamily="2" charset="0"/>
              </a:rPr>
              <a:t>Text Editors and IDEs</a:t>
            </a:r>
          </a:p>
          <a:p>
            <a:pPr lvl="0"/>
            <a:r>
              <a:rPr lang="en-PH" sz="2100" b="1" dirty="0">
                <a:latin typeface="Roboto Condensed" panose="02000000000000000000" pitchFamily="2" charset="0"/>
                <a:ea typeface="Roboto Condensed" panose="02000000000000000000" pitchFamily="2" charset="0"/>
                <a:cs typeface="Roboto Condensed" panose="02000000000000000000" pitchFamily="2" charset="0"/>
              </a:rPr>
              <a:t>Text Editor:</a:t>
            </a:r>
            <a:r>
              <a:rPr lang="en-PH" sz="2100" dirty="0">
                <a:latin typeface="Roboto Condensed" panose="02000000000000000000" pitchFamily="2" charset="0"/>
                <a:ea typeface="Roboto Condensed" panose="02000000000000000000" pitchFamily="2" charset="0"/>
                <a:cs typeface="Roboto Condensed" panose="02000000000000000000" pitchFamily="2" charset="0"/>
              </a:rPr>
              <a:t> A simple program for writing text. You could technically write code in Notepad, but it wouldn't be very helpful. </a:t>
            </a:r>
          </a:p>
          <a:p>
            <a:pPr lvl="0"/>
            <a:r>
              <a:rPr lang="en-PH" sz="2100" dirty="0">
                <a:latin typeface="Roboto Condensed" panose="02000000000000000000" pitchFamily="2" charset="0"/>
                <a:ea typeface="Roboto Condensed" panose="02000000000000000000" pitchFamily="2" charset="0"/>
                <a:cs typeface="Roboto Condensed" panose="02000000000000000000" pitchFamily="2" charset="0"/>
              </a:rPr>
              <a:t>Modern code editors (like VS Code or Sublime Text) are designed specifically for coding, offering features like color-coding your text so it's easier to read.</a:t>
            </a:r>
          </a:p>
          <a:p>
            <a:endParaRPr lang="en-PH" sz="21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321602F9-48A9-A0CB-EBFB-0EBF054CC1BA}"/>
              </a:ext>
            </a:extLst>
          </p:cNvPr>
          <p:cNvPicPr>
            <a:picLocks noChangeAspect="1"/>
          </p:cNvPicPr>
          <p:nvPr/>
        </p:nvPicPr>
        <p:blipFill>
          <a:blip r:embed="rId3"/>
          <a:stretch>
            <a:fillRect/>
          </a:stretch>
        </p:blipFill>
        <p:spPr>
          <a:xfrm>
            <a:off x="7144184" y="1407378"/>
            <a:ext cx="889963" cy="827142"/>
          </a:xfrm>
          <a:prstGeom prst="rect">
            <a:avLst/>
          </a:prstGeom>
        </p:spPr>
      </p:pic>
      <p:pic>
        <p:nvPicPr>
          <p:cNvPr id="5" name="Picture 4">
            <a:extLst>
              <a:ext uri="{FF2B5EF4-FFF2-40B4-BE49-F238E27FC236}">
                <a16:creationId xmlns:a16="http://schemas.microsoft.com/office/drawing/2014/main" id="{087C3D4E-9B7C-490E-FF4B-B3A1DEF8434F}"/>
              </a:ext>
            </a:extLst>
          </p:cNvPr>
          <p:cNvPicPr>
            <a:picLocks noChangeAspect="1"/>
          </p:cNvPicPr>
          <p:nvPr/>
        </p:nvPicPr>
        <p:blipFill>
          <a:blip r:embed="rId4"/>
          <a:stretch>
            <a:fillRect/>
          </a:stretch>
        </p:blipFill>
        <p:spPr>
          <a:xfrm>
            <a:off x="6246400" y="1407378"/>
            <a:ext cx="846378" cy="827142"/>
          </a:xfrm>
          <a:prstGeom prst="rect">
            <a:avLst/>
          </a:prstGeom>
        </p:spPr>
      </p:pic>
      <p:pic>
        <p:nvPicPr>
          <p:cNvPr id="7" name="Picture 6">
            <a:extLst>
              <a:ext uri="{FF2B5EF4-FFF2-40B4-BE49-F238E27FC236}">
                <a16:creationId xmlns:a16="http://schemas.microsoft.com/office/drawing/2014/main" id="{3FAD45B1-4929-1D89-9570-7794CCE12E55}"/>
              </a:ext>
            </a:extLst>
          </p:cNvPr>
          <p:cNvPicPr>
            <a:picLocks noChangeAspect="1"/>
          </p:cNvPicPr>
          <p:nvPr/>
        </p:nvPicPr>
        <p:blipFill>
          <a:blip r:embed="rId5"/>
          <a:stretch>
            <a:fillRect/>
          </a:stretch>
        </p:blipFill>
        <p:spPr>
          <a:xfrm>
            <a:off x="8087808" y="1407378"/>
            <a:ext cx="947792" cy="905141"/>
          </a:xfrm>
          <a:prstGeom prst="rect">
            <a:avLst/>
          </a:prstGeom>
        </p:spPr>
      </p:pic>
      <p:pic>
        <p:nvPicPr>
          <p:cNvPr id="9" name="Picture 8">
            <a:extLst>
              <a:ext uri="{FF2B5EF4-FFF2-40B4-BE49-F238E27FC236}">
                <a16:creationId xmlns:a16="http://schemas.microsoft.com/office/drawing/2014/main" id="{60156716-FDE1-1C3E-78AA-23CE6CAF3336}"/>
              </a:ext>
            </a:extLst>
          </p:cNvPr>
          <p:cNvPicPr>
            <a:picLocks noChangeAspect="1"/>
          </p:cNvPicPr>
          <p:nvPr/>
        </p:nvPicPr>
        <p:blipFill>
          <a:blip r:embed="rId6"/>
          <a:stretch>
            <a:fillRect/>
          </a:stretch>
        </p:blipFill>
        <p:spPr>
          <a:xfrm>
            <a:off x="6201539" y="2347152"/>
            <a:ext cx="2095515" cy="590554"/>
          </a:xfrm>
          <a:prstGeom prst="rect">
            <a:avLst/>
          </a:prstGeom>
        </p:spPr>
      </p:pic>
      <p:pic>
        <p:nvPicPr>
          <p:cNvPr id="11" name="Picture 10">
            <a:extLst>
              <a:ext uri="{FF2B5EF4-FFF2-40B4-BE49-F238E27FC236}">
                <a16:creationId xmlns:a16="http://schemas.microsoft.com/office/drawing/2014/main" id="{E8880208-286A-E2B7-FD6E-3A48A03414F2}"/>
              </a:ext>
            </a:extLst>
          </p:cNvPr>
          <p:cNvPicPr>
            <a:picLocks noChangeAspect="1"/>
          </p:cNvPicPr>
          <p:nvPr/>
        </p:nvPicPr>
        <p:blipFill>
          <a:blip r:embed="rId7"/>
          <a:stretch>
            <a:fillRect/>
          </a:stretch>
        </p:blipFill>
        <p:spPr>
          <a:xfrm>
            <a:off x="5704612" y="3108528"/>
            <a:ext cx="3439388" cy="766200"/>
          </a:xfrm>
          <a:prstGeom prst="rect">
            <a:avLst/>
          </a:prstGeom>
        </p:spPr>
      </p:pic>
    </p:spTree>
    <p:extLst>
      <p:ext uri="{BB962C8B-B14F-4D97-AF65-F5344CB8AC3E}">
        <p14:creationId xmlns:p14="http://schemas.microsoft.com/office/powerpoint/2010/main" val="3516420996"/>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2E588B39-4AFF-5AD8-A517-DDC5539F7620}"/>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930D4AD2-58CD-2166-0C75-FD93142BB20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3F23BAD2-7F5A-6038-70A7-B949527B13A7}"/>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15</a:t>
            </a:fld>
            <a:endParaRPr lang="en-GB"/>
          </a:p>
        </p:txBody>
      </p:sp>
      <p:grpSp>
        <p:nvGrpSpPr>
          <p:cNvPr id="194" name="Google Shape;194;p12">
            <a:extLst>
              <a:ext uri="{FF2B5EF4-FFF2-40B4-BE49-F238E27FC236}">
                <a16:creationId xmlns:a16="http://schemas.microsoft.com/office/drawing/2014/main" id="{B76C2942-98B8-B441-DC68-CC7415823917}"/>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0C81F4C7-53A5-4BC3-F59B-7DB44D9C3A1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CD7F5223-542A-22EC-CDD7-CE76EAF06CA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ED3DC225-6DB0-4C4C-EBD9-1DB913878C43}"/>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1CADDD4D-50C2-C9B9-093A-8D2908E5239A}"/>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56531A24-912F-A70C-5CFF-289CBFB8CDC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474168D-B768-FA1E-5E13-C8C23383EA63}"/>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49EF13D8-9F54-C2AF-67D4-0C98CA8E263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6A3DF908-141F-30FF-A94B-803D5EAADBB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2E06EF7A-195D-0A28-F39B-BD84B9D94828}"/>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E6B3EE17-0806-8B45-F381-6B6D563F3B0D}"/>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6541EBE8-B019-99B4-227F-C4738A0EF92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A48D875A-2F29-0681-99A3-4E38FE0635D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71B0C13C-190D-733C-74D4-46C7ED4A53DE}"/>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B62CED9C-DCA0-E412-CF31-81C32229D13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DA7304E1-354B-A73D-1300-ED3B1210A8F9}"/>
              </a:ext>
            </a:extLst>
          </p:cNvPr>
          <p:cNvSpPr>
            <a:spLocks noGrp="1"/>
          </p:cNvSpPr>
          <p:nvPr>
            <p:ph type="body" idx="2"/>
          </p:nvPr>
        </p:nvSpPr>
        <p:spPr>
          <a:xfrm>
            <a:off x="58905" y="1238541"/>
            <a:ext cx="7256295" cy="2807776"/>
          </a:xfrm>
        </p:spPr>
        <p:txBody>
          <a:bodyPr/>
          <a:lstStyle/>
          <a:p>
            <a:r>
              <a:rPr lang="en-PH" sz="1900" dirty="0">
                <a:latin typeface="Roboto Condensed" panose="02000000000000000000" pitchFamily="2" charset="0"/>
                <a:ea typeface="Roboto Condensed" panose="02000000000000000000" pitchFamily="2" charset="0"/>
                <a:cs typeface="Roboto Condensed" panose="02000000000000000000" pitchFamily="2" charset="0"/>
              </a:rPr>
              <a:t>Text Editors and IDEs</a:t>
            </a:r>
          </a:p>
          <a:p>
            <a:pPr lvl="0"/>
            <a:r>
              <a:rPr lang="en-PH" sz="1900" b="1" dirty="0">
                <a:latin typeface="Roboto Condensed" panose="02000000000000000000" pitchFamily="2" charset="0"/>
                <a:ea typeface="Roboto Condensed" panose="02000000000000000000" pitchFamily="2" charset="0"/>
                <a:cs typeface="Roboto Condensed" panose="02000000000000000000" pitchFamily="2" charset="0"/>
              </a:rPr>
              <a:t>IDE (Integrated Development Environment):</a:t>
            </a:r>
            <a:r>
              <a:rPr lang="en-PH" sz="1900" dirty="0">
                <a:latin typeface="Roboto Condensed" panose="02000000000000000000" pitchFamily="2" charset="0"/>
                <a:ea typeface="Roboto Condensed" panose="02000000000000000000" pitchFamily="2" charset="0"/>
                <a:cs typeface="Roboto Condensed" panose="02000000000000000000" pitchFamily="2" charset="0"/>
              </a:rPr>
              <a:t> A heavier, more powerful tool. An IDE (like Visual Studio, PyCharm, or IntelliJ) bundles a text editor with a bunch of other tools you need, like debuggers (to help find errors) and built-in automation tools. Think of it as a fully equipped workbench rather than just a notepad.</a:t>
            </a:r>
          </a:p>
          <a:p>
            <a:pPr lvl="0"/>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347DB25C-6CA2-475E-F44C-B93085FC91D8}"/>
              </a:ext>
            </a:extLst>
          </p:cNvPr>
          <p:cNvPicPr>
            <a:picLocks noChangeAspect="1"/>
          </p:cNvPicPr>
          <p:nvPr/>
        </p:nvPicPr>
        <p:blipFill>
          <a:blip r:embed="rId3"/>
          <a:stretch>
            <a:fillRect/>
          </a:stretch>
        </p:blipFill>
        <p:spPr>
          <a:xfrm>
            <a:off x="663055" y="3429803"/>
            <a:ext cx="4292003" cy="956139"/>
          </a:xfrm>
          <a:prstGeom prst="rect">
            <a:avLst/>
          </a:prstGeom>
        </p:spPr>
      </p:pic>
    </p:spTree>
    <p:extLst>
      <p:ext uri="{BB962C8B-B14F-4D97-AF65-F5344CB8AC3E}">
        <p14:creationId xmlns:p14="http://schemas.microsoft.com/office/powerpoint/2010/main" val="4036195913"/>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CF806B25-972C-BFAB-CC51-FC2434062048}"/>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71F5DEC2-B013-292F-7835-82EFA308D60A}"/>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C5481A50-E903-40E7-B64B-9B308DB7A180}"/>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16</a:t>
            </a:fld>
            <a:endParaRPr lang="en-GB"/>
          </a:p>
        </p:txBody>
      </p:sp>
      <p:grpSp>
        <p:nvGrpSpPr>
          <p:cNvPr id="194" name="Google Shape;194;p12">
            <a:extLst>
              <a:ext uri="{FF2B5EF4-FFF2-40B4-BE49-F238E27FC236}">
                <a16:creationId xmlns:a16="http://schemas.microsoft.com/office/drawing/2014/main" id="{FDAFFC71-AB37-17CE-6BE1-02A17B00BF35}"/>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E88B109A-F5DA-D2BC-D792-C7B19FA3392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4CFED15A-431F-46D3-D0F2-4C39C408CB8A}"/>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B88C05E5-7685-E615-2F4B-8AEEA7FB372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01EC9392-929F-611B-E74C-343D1079750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32D642D7-CBAB-7629-200C-20814FD4FF8E}"/>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CF292B4-7D34-F2CA-ACE0-3D8A1E287B1E}"/>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AA2E883-72D5-A5A7-F1DE-B0353A8499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BFDD589D-7520-C04D-B154-FE785569BC8E}"/>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3BE0A233-DCB9-F00A-A4E6-D977265B19FD}"/>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2780B9AA-F203-8BA2-9EAF-055D1B40DDD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C6F58500-C68F-4637-3670-E9253DC473B7}"/>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1CE956F-868D-8520-10FE-9FC6F419B019}"/>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BD33FC0-35CF-8DD0-E1B7-894154ED6306}"/>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28F285B6-9522-5EF3-9B6B-3F2E14F9CB66}"/>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41CECD23-C4BF-5FEC-CE36-D51593DC1825}"/>
              </a:ext>
            </a:extLst>
          </p:cNvPr>
          <p:cNvSpPr>
            <a:spLocks noGrp="1"/>
          </p:cNvSpPr>
          <p:nvPr>
            <p:ph type="body" idx="2"/>
          </p:nvPr>
        </p:nvSpPr>
        <p:spPr>
          <a:xfrm>
            <a:off x="58906" y="1238541"/>
            <a:ext cx="528745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Compilers and Interpreters</a:t>
            </a:r>
          </a:p>
          <a:p>
            <a:r>
              <a:rPr lang="en-PH" sz="1800" dirty="0">
                <a:latin typeface="Roboto Condensed" panose="02000000000000000000" pitchFamily="2" charset="0"/>
                <a:ea typeface="Roboto Condensed" panose="02000000000000000000" pitchFamily="2" charset="0"/>
                <a:cs typeface="Roboto Condensed" panose="02000000000000000000" pitchFamily="2" charset="0"/>
              </a:rPr>
              <a:t>Computers only understand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machine code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—a binary language of 1s and 0s. Humans write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source code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(like Python, Java, or C++) which uses English-like keywords. We need a translator to bridge that gap.</a:t>
            </a:r>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C29DBA1D-3CAE-ADF5-AE9B-CD1D79208964}"/>
              </a:ext>
            </a:extLst>
          </p:cNvPr>
          <p:cNvPicPr>
            <a:picLocks noChangeAspect="1"/>
          </p:cNvPicPr>
          <p:nvPr/>
        </p:nvPicPr>
        <p:blipFill>
          <a:blip r:embed="rId3"/>
          <a:stretch>
            <a:fillRect/>
          </a:stretch>
        </p:blipFill>
        <p:spPr>
          <a:xfrm>
            <a:off x="5575968" y="1418324"/>
            <a:ext cx="3568032" cy="2627993"/>
          </a:xfrm>
          <a:prstGeom prst="rect">
            <a:avLst/>
          </a:prstGeom>
        </p:spPr>
      </p:pic>
    </p:spTree>
    <p:extLst>
      <p:ext uri="{BB962C8B-B14F-4D97-AF65-F5344CB8AC3E}">
        <p14:creationId xmlns:p14="http://schemas.microsoft.com/office/powerpoint/2010/main" val="200033565"/>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FC646AB5-C3CA-84D3-0C81-4EAC8604E21B}"/>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1A3E7179-4107-5C99-3587-73BED1539EDF}"/>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Programming Tools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D28A5376-FC4C-E0AB-39A2-AFF0DFD50E4E}"/>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17</a:t>
            </a:fld>
            <a:endParaRPr lang="en-GB"/>
          </a:p>
        </p:txBody>
      </p:sp>
      <p:grpSp>
        <p:nvGrpSpPr>
          <p:cNvPr id="194" name="Google Shape;194;p12">
            <a:extLst>
              <a:ext uri="{FF2B5EF4-FFF2-40B4-BE49-F238E27FC236}">
                <a16:creationId xmlns:a16="http://schemas.microsoft.com/office/drawing/2014/main" id="{05C89093-BFA6-389A-994E-AEB4E86527DA}"/>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595E9818-5A42-D0DB-8806-8FDE0B93EB38}"/>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476B03C9-8E29-3829-5FEB-2A7B6E5A2507}"/>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CBABCE2A-D017-8233-6B13-3CDB696267F0}"/>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633F8F3-5652-4013-45A5-A55752D2EEF5}"/>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4F8EEAAC-D9D7-99AD-27D0-53B49DA5C07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991203B-9EBF-E2BA-F5E3-A554D687EB57}"/>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E0046551-4495-1EC5-6F6B-4EBEA1215537}"/>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3105700A-73DE-FC8B-F105-A5983A21314F}"/>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30A8AAC6-38F0-8AD2-0015-E0F0DE88335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99097D7-C7CD-355F-6908-C183FFA5D479}"/>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B116489-D90C-091E-67C4-8F7883E04EC2}"/>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CD42B19-27E0-9AFA-2765-5A898978CFDD}"/>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A4F357DC-980F-522D-59AB-2427FAF0421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93CF6DFD-64E9-105A-813E-B38E9C435C7B}"/>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B1E1BFB4-5279-BCBF-0104-BA5FB335D1C9}"/>
              </a:ext>
            </a:extLst>
          </p:cNvPr>
          <p:cNvSpPr>
            <a:spLocks noGrp="1"/>
          </p:cNvSpPr>
          <p:nvPr>
            <p:ph type="body" idx="2"/>
          </p:nvPr>
        </p:nvSpPr>
        <p:spPr>
          <a:xfrm>
            <a:off x="58905" y="1238541"/>
            <a:ext cx="5592251"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Compilers and Interpreters</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Compiler:</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Takes your entire source code file, translates it all at once into a complete machine code file (an executable), and </a:t>
            </a:r>
            <a:r>
              <a:rPr lang="en-PH" sz="1800" i="1" dirty="0">
                <a:latin typeface="Roboto Condensed" panose="02000000000000000000" pitchFamily="2" charset="0"/>
                <a:ea typeface="Roboto Condensed" panose="02000000000000000000" pitchFamily="2" charset="0"/>
                <a:cs typeface="Roboto Condensed" panose="02000000000000000000" pitchFamily="2" charset="0"/>
              </a:rPr>
              <a:t>then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runs it. Languages like C++ and Java use compilers. It takes a little longer to prepare, but runs very fast.</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Interpreter:</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Translates and executes your code line-by-line, on the fly. Languages like Python, Java and JavaScript use interpreters. It's faster to start running your code, but the execution itself might be slightly slower.</a:t>
            </a: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3" name="Picture 2">
            <a:extLst>
              <a:ext uri="{FF2B5EF4-FFF2-40B4-BE49-F238E27FC236}">
                <a16:creationId xmlns:a16="http://schemas.microsoft.com/office/drawing/2014/main" id="{4359714A-3921-8ED8-BF0D-2B03195B84A9}"/>
              </a:ext>
            </a:extLst>
          </p:cNvPr>
          <p:cNvPicPr>
            <a:picLocks noChangeAspect="1"/>
          </p:cNvPicPr>
          <p:nvPr/>
        </p:nvPicPr>
        <p:blipFill>
          <a:blip r:embed="rId3"/>
          <a:stretch>
            <a:fillRect/>
          </a:stretch>
        </p:blipFill>
        <p:spPr>
          <a:xfrm>
            <a:off x="5575968" y="1418324"/>
            <a:ext cx="3568032" cy="2627993"/>
          </a:xfrm>
          <a:prstGeom prst="rect">
            <a:avLst/>
          </a:prstGeom>
        </p:spPr>
      </p:pic>
    </p:spTree>
    <p:extLst>
      <p:ext uri="{BB962C8B-B14F-4D97-AF65-F5344CB8AC3E}">
        <p14:creationId xmlns:p14="http://schemas.microsoft.com/office/powerpoint/2010/main" val="100317868"/>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8109734C-7FD4-CA1C-2334-C2815DEAE7B1}"/>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B5E8A49-84DC-D551-D58A-347C7AE6CBB4}"/>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Definition</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4916D531-0A20-34A2-72E3-C27BF37718D1}"/>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18</a:t>
            </a:fld>
            <a:endParaRPr lang="en-GB"/>
          </a:p>
        </p:txBody>
      </p:sp>
      <p:grpSp>
        <p:nvGrpSpPr>
          <p:cNvPr id="194" name="Google Shape;194;p12">
            <a:extLst>
              <a:ext uri="{FF2B5EF4-FFF2-40B4-BE49-F238E27FC236}">
                <a16:creationId xmlns:a16="http://schemas.microsoft.com/office/drawing/2014/main" id="{9CE9233F-3A13-9997-C3D8-137AF25C1CDE}"/>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0017EA9C-0BDB-ED1B-D8F6-6B3AB50C3EB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E8AFFAFD-BADB-FC5A-B012-9C2727CE317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3B42ECE-DBA1-D5D3-E7FE-2648544C0E74}"/>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496FCED6-18EC-0A2F-2173-031BF2802C90}"/>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A95E5961-B367-1A08-7E4E-571FBD160BE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54A8181-4E8B-1544-12BB-EE0A6041BA7A}"/>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CCCD990-318E-7A17-8A9A-2D1B65AFBFE6}"/>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6BB7948E-AF01-A452-AA6B-592C48B6F6C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C3C5D1B6-E67E-6895-F93A-124746BF588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7D4C198-6F46-32ED-CD6E-E9C1EF6CC4B3}"/>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9A1E8F03-30B6-36EF-CBE5-67117B4D78E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4393D25E-4504-2E9B-952D-D6BC9E5FEB5D}"/>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7CF696AC-DC61-7397-09B3-D72D909178DB}"/>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DFED1B7-C432-9462-CBA6-17D21E38567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021D704E-7818-7965-C75F-4AE109E06C81}"/>
              </a:ext>
            </a:extLst>
          </p:cNvPr>
          <p:cNvSpPr>
            <a:spLocks noGrp="1"/>
          </p:cNvSpPr>
          <p:nvPr>
            <p:ph type="body" idx="2"/>
          </p:nvPr>
        </p:nvSpPr>
        <p:spPr>
          <a:xfrm>
            <a:off x="58905" y="1238541"/>
            <a:ext cx="5909409"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is the process of clearly outlining the goal, the boundaries, and the expected outcome of the program.</a:t>
            </a:r>
          </a:p>
          <a:p>
            <a:r>
              <a:rPr lang="en-PH" sz="1800" dirty="0">
                <a:latin typeface="Roboto Condensed" panose="02000000000000000000" pitchFamily="2" charset="0"/>
                <a:ea typeface="Roboto Condensed" panose="02000000000000000000" pitchFamily="2" charset="0"/>
                <a:cs typeface="Roboto Condensed" panose="02000000000000000000" pitchFamily="2" charset="0"/>
              </a:rPr>
              <a:t>If you skip this step, you risk building a brilliant solution to the wrong problem.</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is the core task?</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We need to give people a number so they know their place in line.</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are the constraints?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numbers must go in order, and two people cannot receive the same number.</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What is the expected outcome?</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A system that outputs a unique, sequential number every time a user requests one.</a:t>
            </a:r>
          </a:p>
          <a:p>
            <a:endParaRPr lang="en-PH" sz="1900" dirty="0">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4" name="Picture 3">
            <a:extLst>
              <a:ext uri="{FF2B5EF4-FFF2-40B4-BE49-F238E27FC236}">
                <a16:creationId xmlns:a16="http://schemas.microsoft.com/office/drawing/2014/main" id="{F810120E-D8E1-214D-104B-423966ACE099}"/>
              </a:ext>
            </a:extLst>
          </p:cNvPr>
          <p:cNvPicPr>
            <a:picLocks noChangeAspect="1"/>
          </p:cNvPicPr>
          <p:nvPr/>
        </p:nvPicPr>
        <p:blipFill>
          <a:blip r:embed="rId3"/>
          <a:stretch>
            <a:fillRect/>
          </a:stretch>
        </p:blipFill>
        <p:spPr>
          <a:xfrm>
            <a:off x="6055049" y="1383957"/>
            <a:ext cx="2633821" cy="2885074"/>
          </a:xfrm>
          <a:prstGeom prst="rect">
            <a:avLst/>
          </a:prstGeom>
        </p:spPr>
      </p:pic>
    </p:spTree>
    <p:extLst>
      <p:ext uri="{BB962C8B-B14F-4D97-AF65-F5344CB8AC3E}">
        <p14:creationId xmlns:p14="http://schemas.microsoft.com/office/powerpoint/2010/main" val="1740124246"/>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20D5C94C-9757-442F-871E-30E7DF261B3C}"/>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F317A458-2956-FE0A-CF65-CB1FF060225F}"/>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Analysis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FB4E35D3-585A-4550-FC63-261376E8D911}"/>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19</a:t>
            </a:fld>
            <a:endParaRPr lang="en-GB"/>
          </a:p>
        </p:txBody>
      </p:sp>
      <p:grpSp>
        <p:nvGrpSpPr>
          <p:cNvPr id="194" name="Google Shape;194;p12">
            <a:extLst>
              <a:ext uri="{FF2B5EF4-FFF2-40B4-BE49-F238E27FC236}">
                <a16:creationId xmlns:a16="http://schemas.microsoft.com/office/drawing/2014/main" id="{7B5BAF99-74C2-D46C-8E1D-59538ADFBFB9}"/>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2F8EAEE5-8A6F-A4CC-CCEB-84C1D52A1BB9}"/>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E8B85853-5205-7F72-E45E-9FA937536496}"/>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4E77F49C-DFD0-7B2C-5EDA-3A29D450AC60}"/>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501BA2E-E96C-95FC-0675-BC1AA845F223}"/>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7BDB02BF-1948-6E32-565D-9F908B317848}"/>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F8D37FB7-2A8D-E533-2194-6DF70CE58FF8}"/>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8B8A0D45-135D-F99B-131A-68395CCB3939}"/>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EC7AA880-2FBB-FEF1-5372-17B281403490}"/>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076AC7C6-A537-17CA-903D-2A1864F7AD9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748C3D1F-1708-B710-37FE-0DCB4D3839EB}"/>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AA7BBD63-3606-C75A-330B-D86B07FC889A}"/>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71233ED3-4044-0989-D251-4D617DED92FA}"/>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B513DF9E-72D6-9FB6-D14D-7F4658FE1B78}"/>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19A021C5-52FD-D99E-FEE8-966F76493036}"/>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80FF9C5D-F32E-EE86-9081-4693BE96AF56}"/>
              </a:ext>
            </a:extLst>
          </p:cNvPr>
          <p:cNvPicPr>
            <a:picLocks noChangeAspect="1"/>
          </p:cNvPicPr>
          <p:nvPr/>
        </p:nvPicPr>
        <p:blipFill>
          <a:blip r:embed="rId3"/>
          <a:stretch>
            <a:fillRect/>
          </a:stretch>
        </p:blipFill>
        <p:spPr>
          <a:xfrm>
            <a:off x="358733" y="1778120"/>
            <a:ext cx="6566413" cy="3173980"/>
          </a:xfrm>
          <a:prstGeom prst="rect">
            <a:avLst/>
          </a:prstGeom>
        </p:spPr>
      </p:pic>
      <p:sp>
        <p:nvSpPr>
          <p:cNvPr id="8" name="TextBox 7">
            <a:extLst>
              <a:ext uri="{FF2B5EF4-FFF2-40B4-BE49-F238E27FC236}">
                <a16:creationId xmlns:a16="http://schemas.microsoft.com/office/drawing/2014/main" id="{D859EF2E-42FA-539F-5288-AC15EF3CA0B0}"/>
              </a:ext>
            </a:extLst>
          </p:cNvPr>
          <p:cNvSpPr txBox="1"/>
          <p:nvPr/>
        </p:nvSpPr>
        <p:spPr>
          <a:xfrm>
            <a:off x="450030" y="1268535"/>
            <a:ext cx="7969039" cy="646331"/>
          </a:xfrm>
          <a:prstGeom prst="rect">
            <a:avLst/>
          </a:prstGeom>
          <a:noFill/>
        </p:spPr>
        <p:txBody>
          <a:bodyPr wrap="square">
            <a:spAutoFit/>
          </a:bodyPr>
          <a:lstStyle/>
          <a:p>
            <a:r>
              <a:rPr lang="en-PH" sz="1800" dirty="0">
                <a:latin typeface="Roboto Condensed" panose="02000000000000000000" pitchFamily="2" charset="0"/>
                <a:ea typeface="Roboto Condensed" panose="02000000000000000000" pitchFamily="2" charset="0"/>
                <a:cs typeface="Roboto Condensed" panose="02000000000000000000" pitchFamily="2" charset="0"/>
              </a:rPr>
              <a:t>Once the problem is defined, we break it down into actionable pieces. We do this by analyzing the problem using the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IPO Model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Inputs, Processes, and Outputs.</a:t>
            </a:r>
          </a:p>
        </p:txBody>
      </p:sp>
    </p:spTree>
    <p:extLst>
      <p:ext uri="{BB962C8B-B14F-4D97-AF65-F5344CB8AC3E}">
        <p14:creationId xmlns:p14="http://schemas.microsoft.com/office/powerpoint/2010/main" val="4177911467"/>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B90001DD-4A85-EFD6-F7B5-4AAC72B0158E}"/>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D4E8D497-A33C-796B-1FC4-F79C18591906}"/>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Problem Analysis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09B76E26-3B2C-2E6E-3183-205B023499EA}"/>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20</a:t>
            </a:fld>
            <a:endParaRPr lang="en-GB"/>
          </a:p>
        </p:txBody>
      </p:sp>
      <p:grpSp>
        <p:nvGrpSpPr>
          <p:cNvPr id="194" name="Google Shape;194;p12">
            <a:extLst>
              <a:ext uri="{FF2B5EF4-FFF2-40B4-BE49-F238E27FC236}">
                <a16:creationId xmlns:a16="http://schemas.microsoft.com/office/drawing/2014/main" id="{A1BBAB47-BC0E-5AE2-69E4-77150F675EA1}"/>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4C902EDC-B05E-D388-6F0D-2E3FE99BB8E6}"/>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857CF3FE-D559-2153-CD01-292FE73E4D9D}"/>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7D826752-FD51-9396-FAEF-4057C966C66C}"/>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48E9206D-179D-BCAA-F9C6-4BC3EED9786E}"/>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AF73C80E-B550-6BEA-A6F4-DC77D2A7F163}"/>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348A61A9-BC2E-D77A-C464-EF0DF6D5A686}"/>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ADF4E601-B8F1-70DA-7B09-BDCCA9EB35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CE56710A-F0EB-10E2-7E53-8942B3D261C8}"/>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2E1BF652-8805-FA73-EC28-9F8DC310E0A2}"/>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9877A8E-04C1-0B09-2643-5D8F3AD2E68F}"/>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31EC8856-FD79-BB31-A65C-DD0E7663F88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CC3CA7BD-A0CB-FA00-8535-2DCEDD1A623B}"/>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D219BA35-296F-3328-59C3-E29A8C5F94AA}"/>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59B2CD6-112C-4232-22EC-A0EEF3C1BEE7}"/>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85CD7A72-24AC-DF3A-B571-89FDD9E0546C}"/>
              </a:ext>
            </a:extLst>
          </p:cNvPr>
          <p:cNvSpPr>
            <a:spLocks noGrp="1"/>
          </p:cNvSpPr>
          <p:nvPr>
            <p:ph type="body" idx="2"/>
          </p:nvPr>
        </p:nvSpPr>
        <p:spPr>
          <a:xfrm>
            <a:off x="58905" y="1238541"/>
            <a:ext cx="8866792" cy="2807776"/>
          </a:xfrm>
        </p:spPr>
        <p:txBody>
          <a:bodyPr/>
          <a:lstStyle/>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Inputs: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raw data or actions does the program need to receive?</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only input is the user clicking the "Get Ticket" button.</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Processes: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logic, calculations, or steps must the program perform to transform the input into the output?</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 - </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Look at the last number that was given out, Add 1 to that number to generate the new ticket number, Save this new number as the "last number given out" for the next person.</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Outputs:</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What is the final result the program delivers?</a:t>
            </a:r>
          </a:p>
          <a:p>
            <a:pPr lvl="1"/>
            <a:r>
              <a:rPr lang="en-PH" sz="1800" i="1" dirty="0">
                <a:latin typeface="Roboto Condensed" panose="02000000000000000000" pitchFamily="2" charset="0"/>
                <a:ea typeface="Roboto Condensed" panose="02000000000000000000" pitchFamily="2" charset="0"/>
                <a:cs typeface="Roboto Condensed" panose="02000000000000000000" pitchFamily="2" charset="0"/>
              </a:rPr>
              <a:t>Our Queue System: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Displaying or printing the new ticket number for the user.</a:t>
            </a:r>
          </a:p>
          <a:p>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3094910438"/>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442A9C80-0F14-19B8-E561-8CE9D6CDE6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57C1AC0-6C6B-886E-02ED-CDD94199F95D}"/>
              </a:ext>
            </a:extLst>
          </p:cNvPr>
          <p:cNvPicPr>
            <a:picLocks noChangeAspect="1"/>
          </p:cNvPicPr>
          <p:nvPr/>
        </p:nvPicPr>
        <p:blipFill>
          <a:blip r:embed="rId3"/>
          <a:stretch>
            <a:fillRect/>
          </a:stretch>
        </p:blipFill>
        <p:spPr>
          <a:xfrm>
            <a:off x="0" y="440"/>
            <a:ext cx="9144000" cy="5142619"/>
          </a:xfrm>
          <a:prstGeom prst="rect">
            <a:avLst/>
          </a:prstGeom>
        </p:spPr>
      </p:pic>
      <p:sp>
        <p:nvSpPr>
          <p:cNvPr id="189" name="Google Shape;189;p12">
            <a:extLst>
              <a:ext uri="{FF2B5EF4-FFF2-40B4-BE49-F238E27FC236}">
                <a16:creationId xmlns:a16="http://schemas.microsoft.com/office/drawing/2014/main" id="{97F4CA7B-3C64-B7A8-32BD-DD3BCF519041}"/>
              </a:ext>
            </a:extLst>
          </p:cNvPr>
          <p:cNvSpPr txBox="1">
            <a:spLocks noGrp="1"/>
          </p:cNvSpPr>
          <p:nvPr>
            <p:ph type="title"/>
          </p:nvPr>
        </p:nvSpPr>
        <p:spPr>
          <a:xfrm>
            <a:off x="814274" y="392575"/>
            <a:ext cx="4075911" cy="766200"/>
          </a:xfrm>
          <a:prstGeom prst="rect">
            <a:avLst/>
          </a:prstGeom>
        </p:spPr>
        <p:txBody>
          <a:bodyPr spcFirstLastPara="1" wrap="square" lIns="91425" tIns="91425" rIns="91425" bIns="91425" anchor="ctr" anchorCtr="0">
            <a:noAutofit/>
          </a:bodyPr>
          <a:lstStyle/>
          <a:p>
            <a:pPr lvl="0"/>
            <a:r>
              <a:rPr lang="en-PH" dirty="0">
                <a:solidFill>
                  <a:srgbClr val="002060"/>
                </a:solidFill>
              </a:rPr>
              <a:t>Algorithm Design &amp; Representation (Flowcharting)</a:t>
            </a:r>
            <a:endParaRPr dirty="0">
              <a:solidFill>
                <a:srgbClr val="002060"/>
              </a:solidFill>
            </a:endParaRPr>
          </a:p>
        </p:txBody>
      </p:sp>
      <p:sp>
        <p:nvSpPr>
          <p:cNvPr id="192" name="Google Shape;192;p12">
            <a:extLst>
              <a:ext uri="{FF2B5EF4-FFF2-40B4-BE49-F238E27FC236}">
                <a16:creationId xmlns:a16="http://schemas.microsoft.com/office/drawing/2014/main" id="{63A03BC3-D22A-A3A7-D035-634A9F397EDC}"/>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21</a:t>
            </a:fld>
            <a:endParaRPr lang="en-GB"/>
          </a:p>
        </p:txBody>
      </p:sp>
      <p:grpSp>
        <p:nvGrpSpPr>
          <p:cNvPr id="194" name="Google Shape;194;p12">
            <a:extLst>
              <a:ext uri="{FF2B5EF4-FFF2-40B4-BE49-F238E27FC236}">
                <a16:creationId xmlns:a16="http://schemas.microsoft.com/office/drawing/2014/main" id="{BF2F4FE1-4C58-D21A-CE80-5EF3BE55DF4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1538899-32D4-7ABF-C15A-23641899F729}"/>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54E78E2-CEA5-2EA0-1CDF-66FB040711AF}"/>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0A338E3D-C0F0-4A20-161F-BF6E63918483}"/>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5BAD167E-BF1B-AD29-82A6-C95F8E3A08F1}"/>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9CD4CC5B-9578-81C1-18B8-7AF06961F291}"/>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F00FF6FD-3D35-F8E4-77A0-C47E68F5DA1A}"/>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BFA94361-5532-D25D-47BB-4E04B36BA805}"/>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A183C31B-CFA8-4752-F0BF-7F90AAAC26E1}"/>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9CC96B1-DCAF-66A2-B10F-07DD4911D2D7}"/>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80217325-F809-E3A6-ECAD-A8F8BFA05A6E}"/>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FB7090A-F382-D3AA-4D2D-334DFAC37B0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0D789214-0D12-6996-0D5C-A18F260E7A4B}"/>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B3230505-B409-6DE3-2748-C27551E860C0}"/>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D4A51453-FBC3-77B0-41EE-0825FF201099}"/>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D5017E55-88B0-C879-FBEB-4C6858A54100}"/>
              </a:ext>
            </a:extLst>
          </p:cNvPr>
          <p:cNvSpPr>
            <a:spLocks noGrp="1"/>
          </p:cNvSpPr>
          <p:nvPr>
            <p:ph type="body" idx="2"/>
          </p:nvPr>
        </p:nvSpPr>
        <p:spPr>
          <a:xfrm>
            <a:off x="171387" y="1639662"/>
            <a:ext cx="4686090" cy="2807776"/>
          </a:xfrm>
        </p:spPr>
        <p:txBody>
          <a:bodyPr/>
          <a:lstStyle/>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An </a:t>
            </a:r>
            <a:r>
              <a:rPr lang="en-PH" sz="1800" b="1" dirty="0">
                <a:latin typeface="Roboto Condensed" panose="02000000000000000000" pitchFamily="2" charset="0"/>
                <a:ea typeface="Roboto Condensed" panose="02000000000000000000" pitchFamily="2" charset="0"/>
                <a:cs typeface="Roboto Condensed" panose="02000000000000000000" pitchFamily="2" charset="0"/>
              </a:rPr>
              <a:t>algorithm</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is simply a step-by-step set of instructions designed to perform a specific task. A recipe for baking a cake is an algorithm. The process we just outlined above is an algorithm.</a:t>
            </a: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A set of instructions for solving problem or accomplishing tasks</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2158076779"/>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1F6BA0FA-27C7-5A88-F488-BC5AC809BBBE}"/>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0E9DC1AA-6C4A-D6E6-F91C-DB565FBD61AD}"/>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Flowchart Symbols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2D10B162-8FB0-1478-CCE4-679E963112D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22</a:t>
            </a:fld>
            <a:endParaRPr lang="en-GB"/>
          </a:p>
        </p:txBody>
      </p:sp>
      <p:grpSp>
        <p:nvGrpSpPr>
          <p:cNvPr id="194" name="Google Shape;194;p12">
            <a:extLst>
              <a:ext uri="{FF2B5EF4-FFF2-40B4-BE49-F238E27FC236}">
                <a16:creationId xmlns:a16="http://schemas.microsoft.com/office/drawing/2014/main" id="{C854874E-F2EB-B81B-0008-3D552CAFF6EC}"/>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FCF2599-89E5-B6CB-2803-0225FC1F2444}"/>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1647B8B-661E-97D4-6125-881E495E108B}"/>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CDA557B8-E550-C892-F846-24E4E72B2A0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E07644B8-12B2-EA9D-59D5-11E9567C56F7}"/>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D5FB7FD0-A0A2-66DB-4889-0BF385D56DC9}"/>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06C20939-2393-144F-3042-399FA9CDAB5C}"/>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1BAE59AF-D006-3C4F-BBAE-A2977D101467}"/>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091AEEBF-D21F-C2AE-B064-B64EA74C9544}"/>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F3C6936-D8F2-050F-1DDB-4937C2641C51}"/>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E93F54AD-BBBE-F58C-6C1F-750C11C85FB4}"/>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26CE1DCD-0DC3-401F-A06F-15CB5E0E6A9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CF09F43A-CE6B-9B40-A587-2E1B61F4EB48}"/>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6A4BEAC6-F861-21FA-3331-0674190EA3D9}"/>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16D7A7A-27AA-462F-3E7F-F40224F9C2EF}"/>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3D717F5E-7879-2400-C948-9AE091A30CBA}"/>
              </a:ext>
            </a:extLst>
          </p:cNvPr>
          <p:cNvSpPr>
            <a:spLocks noGrp="1"/>
          </p:cNvSpPr>
          <p:nvPr>
            <p:ph type="body" idx="2"/>
          </p:nvPr>
        </p:nvSpPr>
        <p:spPr>
          <a:xfrm>
            <a:off x="58905" y="1238541"/>
            <a:ext cx="5287452" cy="2807776"/>
          </a:xfrm>
        </p:spPr>
        <p:txBody>
          <a:bodyPr/>
          <a:lstStyle/>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Flowcharts use standard geometric shapes to represent different types of actions in your algorithm.</a:t>
            </a:r>
          </a:p>
        </p:txBody>
      </p:sp>
      <p:pic>
        <p:nvPicPr>
          <p:cNvPr id="3" name="Picture 2">
            <a:extLst>
              <a:ext uri="{FF2B5EF4-FFF2-40B4-BE49-F238E27FC236}">
                <a16:creationId xmlns:a16="http://schemas.microsoft.com/office/drawing/2014/main" id="{6C27726D-680B-0045-0526-74C6B1974578}"/>
              </a:ext>
            </a:extLst>
          </p:cNvPr>
          <p:cNvPicPr>
            <a:picLocks noChangeAspect="1"/>
          </p:cNvPicPr>
          <p:nvPr/>
        </p:nvPicPr>
        <p:blipFill>
          <a:blip r:embed="rId3"/>
          <a:stretch>
            <a:fillRect/>
          </a:stretch>
        </p:blipFill>
        <p:spPr>
          <a:xfrm>
            <a:off x="5131375" y="1158774"/>
            <a:ext cx="3984725" cy="3984725"/>
          </a:xfrm>
          <a:prstGeom prst="rect">
            <a:avLst/>
          </a:prstGeom>
        </p:spPr>
      </p:pic>
      <p:sp>
        <p:nvSpPr>
          <p:cNvPr id="5" name="TextBox 4">
            <a:extLst>
              <a:ext uri="{FF2B5EF4-FFF2-40B4-BE49-F238E27FC236}">
                <a16:creationId xmlns:a16="http://schemas.microsoft.com/office/drawing/2014/main" id="{BC9831AC-37D9-FA1C-1DC7-CC8B647DEC50}"/>
              </a:ext>
            </a:extLst>
          </p:cNvPr>
          <p:cNvSpPr txBox="1"/>
          <p:nvPr/>
        </p:nvSpPr>
        <p:spPr>
          <a:xfrm>
            <a:off x="124598" y="4901125"/>
            <a:ext cx="4574058" cy="242374"/>
          </a:xfrm>
          <a:prstGeom prst="rect">
            <a:avLst/>
          </a:prstGeom>
          <a:noFill/>
        </p:spPr>
        <p:txBody>
          <a:bodyPr wrap="square">
            <a:spAutoFit/>
          </a:bodyPr>
          <a:lstStyle/>
          <a:p>
            <a:r>
              <a:rPr lang="en-PH" sz="975" b="0" i="1" dirty="0">
                <a:solidFill>
                  <a:srgbClr val="E0E0E0"/>
                </a:solidFill>
                <a:effectLst/>
                <a:latin typeface="Google Sans Code"/>
              </a:rPr>
              <a:t>Standard algorithmic flowchart structure. Source: NATALIA NOSOVA / Getty Images</a:t>
            </a:r>
            <a:endParaRPr lang="en-PH" dirty="0"/>
          </a:p>
        </p:txBody>
      </p:sp>
    </p:spTree>
    <p:extLst>
      <p:ext uri="{BB962C8B-B14F-4D97-AF65-F5344CB8AC3E}">
        <p14:creationId xmlns:p14="http://schemas.microsoft.com/office/powerpoint/2010/main" val="3418287593"/>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3ADCEDC3-A5CB-606D-097C-B78A1EC2ABD7}"/>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6E6C1595-D105-4BDC-CFBC-23D12C901FF5}"/>
              </a:ext>
            </a:extLst>
          </p:cNvPr>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PH" dirty="0"/>
              <a:t>Flowchart Symbols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B76F9DA9-62F2-5193-F4CE-F7B3DF08AC7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23</a:t>
            </a:fld>
            <a:endParaRPr lang="en-GB"/>
          </a:p>
        </p:txBody>
      </p:sp>
      <p:grpSp>
        <p:nvGrpSpPr>
          <p:cNvPr id="194" name="Google Shape;194;p12">
            <a:extLst>
              <a:ext uri="{FF2B5EF4-FFF2-40B4-BE49-F238E27FC236}">
                <a16:creationId xmlns:a16="http://schemas.microsoft.com/office/drawing/2014/main" id="{61EC5E71-8BFE-D2A1-2B30-2CFF3323AA15}"/>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A3287908-48B1-7581-59E3-F2A66E38AA23}"/>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FED8E59-D892-E3C5-901E-B8BED8C1D023}"/>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D853BBC7-18D0-86BC-EC43-CA226D6ECEB6}"/>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AF1B88ED-76BE-7851-1871-AC5DA61000E4}"/>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2EE52A6A-BB51-6709-44B1-39718BD1CFEC}"/>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1CA80F3D-C44E-8B8F-8F77-F2F640B79126}"/>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A979CA5A-5B9D-3DCA-AF64-47BB465BEB80}"/>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C6EE2148-E083-B3A8-948C-09E616449A5C}"/>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6CD39841-E247-8801-95DE-BA809C8369FB}"/>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DD6AA20-7F75-AB40-A227-4B76DA2C0BB9}"/>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4A9ECE48-DD68-1B83-43E5-16467F126768}"/>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9FCAA1B-B37A-116E-3FCA-CDEF101FB9F3}"/>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0E031A1-FA88-AF0F-B13B-858CBB1A8F5A}"/>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50CFE7B1-9BE4-6882-E7B9-508CD7DA53F0}"/>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51748F48-61FF-8D7E-1204-D6FF38E6B8DC}"/>
              </a:ext>
            </a:extLst>
          </p:cNvPr>
          <p:cNvSpPr>
            <a:spLocks noGrp="1"/>
          </p:cNvSpPr>
          <p:nvPr>
            <p:ph type="body" idx="2"/>
          </p:nvPr>
        </p:nvSpPr>
        <p:spPr>
          <a:xfrm>
            <a:off x="58905" y="1238541"/>
            <a:ext cx="5287452" cy="2807776"/>
          </a:xfrm>
        </p:spPr>
        <p:txBody>
          <a:bodyPr/>
          <a:lstStyle/>
          <a:p>
            <a:pPr lvl="0"/>
            <a:r>
              <a:rPr lang="en-PH" sz="1800" dirty="0"/>
              <a:t>Here are the four primary symbols </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5" name="TextBox 4">
            <a:extLst>
              <a:ext uri="{FF2B5EF4-FFF2-40B4-BE49-F238E27FC236}">
                <a16:creationId xmlns:a16="http://schemas.microsoft.com/office/drawing/2014/main" id="{7CF06434-A6EB-3195-5D44-B642526FEBB8}"/>
              </a:ext>
            </a:extLst>
          </p:cNvPr>
          <p:cNvSpPr txBox="1"/>
          <p:nvPr/>
        </p:nvSpPr>
        <p:spPr>
          <a:xfrm>
            <a:off x="124598" y="4901125"/>
            <a:ext cx="4574058" cy="242374"/>
          </a:xfrm>
          <a:prstGeom prst="rect">
            <a:avLst/>
          </a:prstGeom>
          <a:noFill/>
        </p:spPr>
        <p:txBody>
          <a:bodyPr wrap="square">
            <a:spAutoFit/>
          </a:bodyPr>
          <a:lstStyle/>
          <a:p>
            <a:r>
              <a:rPr lang="en-PH" sz="975" b="0" i="1" dirty="0">
                <a:solidFill>
                  <a:srgbClr val="E0E0E0"/>
                </a:solidFill>
                <a:effectLst/>
                <a:latin typeface="Google Sans Code"/>
              </a:rPr>
              <a:t>Standard algorithmic flowchart structure. Source: NATALIA NOSOVA / Getty Images</a:t>
            </a:r>
            <a:endParaRPr lang="en-PH" dirty="0"/>
          </a:p>
        </p:txBody>
      </p:sp>
      <p:graphicFrame>
        <p:nvGraphicFramePr>
          <p:cNvPr id="2" name="Table 1">
            <a:extLst>
              <a:ext uri="{FF2B5EF4-FFF2-40B4-BE49-F238E27FC236}">
                <a16:creationId xmlns:a16="http://schemas.microsoft.com/office/drawing/2014/main" id="{F4DC3133-6550-DC13-07AE-C55E1DCAFE0A}"/>
              </a:ext>
            </a:extLst>
          </p:cNvPr>
          <p:cNvGraphicFramePr>
            <a:graphicFrameLocks noGrp="1"/>
          </p:cNvGraphicFramePr>
          <p:nvPr>
            <p:extLst>
              <p:ext uri="{D42A27DB-BD31-4B8C-83A1-F6EECF244321}">
                <p14:modId xmlns:p14="http://schemas.microsoft.com/office/powerpoint/2010/main" val="225228738"/>
              </p:ext>
            </p:extLst>
          </p:nvPr>
        </p:nvGraphicFramePr>
        <p:xfrm>
          <a:off x="404382" y="1690925"/>
          <a:ext cx="5047516" cy="3258416"/>
        </p:xfrm>
        <a:graphic>
          <a:graphicData uri="http://schemas.openxmlformats.org/drawingml/2006/table">
            <a:tbl>
              <a:tblPr/>
              <a:tblGrid>
                <a:gridCol w="1261879">
                  <a:extLst>
                    <a:ext uri="{9D8B030D-6E8A-4147-A177-3AD203B41FA5}">
                      <a16:colId xmlns:a16="http://schemas.microsoft.com/office/drawing/2014/main" val="650110710"/>
                    </a:ext>
                  </a:extLst>
                </a:gridCol>
                <a:gridCol w="1261879">
                  <a:extLst>
                    <a:ext uri="{9D8B030D-6E8A-4147-A177-3AD203B41FA5}">
                      <a16:colId xmlns:a16="http://schemas.microsoft.com/office/drawing/2014/main" val="1127835305"/>
                    </a:ext>
                  </a:extLst>
                </a:gridCol>
                <a:gridCol w="1261879">
                  <a:extLst>
                    <a:ext uri="{9D8B030D-6E8A-4147-A177-3AD203B41FA5}">
                      <a16:colId xmlns:a16="http://schemas.microsoft.com/office/drawing/2014/main" val="2638919372"/>
                    </a:ext>
                  </a:extLst>
                </a:gridCol>
                <a:gridCol w="1261879">
                  <a:extLst>
                    <a:ext uri="{9D8B030D-6E8A-4147-A177-3AD203B41FA5}">
                      <a16:colId xmlns:a16="http://schemas.microsoft.com/office/drawing/2014/main" val="2465520161"/>
                    </a:ext>
                  </a:extLst>
                </a:gridCol>
              </a:tblGrid>
              <a:tr h="374845">
                <a:tc>
                  <a:txBody>
                    <a:bodyPr/>
                    <a:lstStyle/>
                    <a:p>
                      <a:pPr marL="0" marR="0" rtl="0">
                        <a:spcAft>
                          <a:spcPts val="2400"/>
                        </a:spcAft>
                        <a:buNone/>
                      </a:pPr>
                      <a:r>
                        <a:rPr lang="en-PH" sz="1100" b="1">
                          <a:solidFill>
                            <a:srgbClr val="1F1F1F"/>
                          </a:solidFill>
                          <a:effectLst/>
                          <a:latin typeface="Google Sans Text"/>
                        </a:rPr>
                        <a:t>Symbol Shape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a:solidFill>
                            <a:srgbClr val="1F1F1F"/>
                          </a:solidFill>
                          <a:effectLst/>
                          <a:latin typeface="Google Sans Text"/>
                        </a:rPr>
                        <a:t>Name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a:solidFill>
                            <a:srgbClr val="1F1F1F"/>
                          </a:solidFill>
                          <a:effectLst/>
                          <a:latin typeface="Google Sans Text"/>
                        </a:rPr>
                        <a:t>Purpose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b="1" dirty="0">
                          <a:solidFill>
                            <a:srgbClr val="1F1F1F"/>
                          </a:solidFill>
                          <a:effectLst/>
                          <a:latin typeface="Google Sans Text"/>
                        </a:rPr>
                        <a:t>Example in our Queue System</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84820790"/>
                  </a:ext>
                </a:extLst>
              </a:tr>
              <a:tr h="533870">
                <a:tc>
                  <a:txBody>
                    <a:bodyPr/>
                    <a:lstStyle/>
                    <a:p>
                      <a:pPr marL="0" marR="0" rtl="0">
                        <a:spcAft>
                          <a:spcPts val="2400"/>
                        </a:spcAft>
                        <a:buNone/>
                      </a:pPr>
                      <a:r>
                        <a:rPr lang="en-PH" sz="1100" b="1">
                          <a:solidFill>
                            <a:srgbClr val="1F1F1F"/>
                          </a:solidFill>
                          <a:effectLst/>
                          <a:latin typeface="Google Sans Text"/>
                        </a:rPr>
                        <a:t>Oval</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Terminal / Terminator</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Indicates the </a:t>
                      </a:r>
                      <a:r>
                        <a:rPr lang="en-PH" sz="1100" b="1">
                          <a:solidFill>
                            <a:srgbClr val="1F1F1F"/>
                          </a:solidFill>
                          <a:effectLst/>
                          <a:latin typeface="Google Sans Text"/>
                        </a:rPr>
                        <a:t>Start</a:t>
                      </a:r>
                      <a:r>
                        <a:rPr lang="en-PH" sz="1100">
                          <a:solidFill>
                            <a:srgbClr val="1F1F1F"/>
                          </a:solidFill>
                          <a:effectLst/>
                          <a:latin typeface="Google Sans Text"/>
                        </a:rPr>
                        <a:t> or </a:t>
                      </a:r>
                      <a:r>
                        <a:rPr lang="en-PH" sz="1100" b="1">
                          <a:solidFill>
                            <a:srgbClr val="1F1F1F"/>
                          </a:solidFill>
                          <a:effectLst/>
                          <a:latin typeface="Google Sans Text"/>
                        </a:rPr>
                        <a:t>End</a:t>
                      </a:r>
                      <a:r>
                        <a:rPr lang="en-PH" sz="1100">
                          <a:solidFill>
                            <a:srgbClr val="1F1F1F"/>
                          </a:solidFill>
                          <a:effectLst/>
                          <a:latin typeface="Google Sans Text"/>
                        </a:rPr>
                        <a:t> of the entire program.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a:solidFill>
                            <a:srgbClr val="1F1F1F"/>
                          </a:solidFill>
                          <a:effectLst/>
                          <a:latin typeface="Google Sans Text"/>
                        </a:rPr>
                        <a:t>Start Program</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12145770"/>
                  </a:ext>
                </a:extLst>
              </a:tr>
              <a:tr h="692895">
                <a:tc>
                  <a:txBody>
                    <a:bodyPr/>
                    <a:lstStyle/>
                    <a:p>
                      <a:pPr marL="0" marR="0" rtl="0">
                        <a:spcAft>
                          <a:spcPts val="2400"/>
                        </a:spcAft>
                        <a:buNone/>
                      </a:pPr>
                      <a:r>
                        <a:rPr lang="en-PH" sz="1100" b="1">
                          <a:solidFill>
                            <a:srgbClr val="1F1F1F"/>
                          </a:solidFill>
                          <a:effectLst/>
                          <a:latin typeface="Google Sans Text"/>
                        </a:rPr>
                        <a:t>Parallelogram</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Input / Output</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Shows data entering the system or results leaving the system.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dirty="0">
                          <a:solidFill>
                            <a:srgbClr val="1F1F1F"/>
                          </a:solidFill>
                          <a:effectLst/>
                          <a:latin typeface="Google Sans Text"/>
                        </a:rPr>
                        <a:t>Output: "Ticket #5"</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94347377"/>
                  </a:ext>
                </a:extLst>
              </a:tr>
              <a:tr h="692895">
                <a:tc>
                  <a:txBody>
                    <a:bodyPr/>
                    <a:lstStyle/>
                    <a:p>
                      <a:pPr marL="0" marR="0" rtl="0">
                        <a:spcAft>
                          <a:spcPts val="2400"/>
                        </a:spcAft>
                        <a:buNone/>
                      </a:pPr>
                      <a:r>
                        <a:rPr lang="en-PH" sz="1100" b="1">
                          <a:solidFill>
                            <a:srgbClr val="1F1F1F"/>
                          </a:solidFill>
                          <a:effectLst/>
                          <a:latin typeface="Google Sans Text"/>
                        </a:rPr>
                        <a:t>Rectangle</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Process</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Represents an action, calculation, or internal operation.</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a:solidFill>
                            <a:srgbClr val="1F1F1F"/>
                          </a:solidFill>
                          <a:effectLst/>
                          <a:latin typeface="Google Sans Text"/>
                        </a:rPr>
                        <a:t>CurrentNumber = CurrentNumber + 1</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368133574"/>
                  </a:ext>
                </a:extLst>
              </a:tr>
              <a:tr h="851920">
                <a:tc>
                  <a:txBody>
                    <a:bodyPr/>
                    <a:lstStyle/>
                    <a:p>
                      <a:pPr marL="0" marR="0" rtl="0">
                        <a:spcAft>
                          <a:spcPts val="2400"/>
                        </a:spcAft>
                        <a:buNone/>
                      </a:pPr>
                      <a:r>
                        <a:rPr lang="en-PH" sz="1100" b="1">
                          <a:solidFill>
                            <a:srgbClr val="1F1F1F"/>
                          </a:solidFill>
                          <a:effectLst/>
                          <a:latin typeface="Google Sans Text"/>
                        </a:rPr>
                        <a:t>Diamond</a:t>
                      </a:r>
                      <a:endParaRPr lang="en-PH" sz="110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Decision</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100">
                          <a:solidFill>
                            <a:srgbClr val="1F1F1F"/>
                          </a:solidFill>
                          <a:effectLst/>
                          <a:latin typeface="Google Sans Text"/>
                        </a:rPr>
                        <a:t>Asks a Yes/No or True/False question, splitting the path of the program.</a:t>
                      </a: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PH" sz="1000" b="0" i="0" dirty="0">
                          <a:solidFill>
                            <a:srgbClr val="1F1F1F"/>
                          </a:solidFill>
                          <a:effectLst/>
                          <a:latin typeface="Google Sans Text"/>
                        </a:rPr>
                        <a:t>Is the printer out of paper?</a:t>
                      </a:r>
                      <a:endParaRPr lang="en-PH" sz="1100" dirty="0">
                        <a:solidFill>
                          <a:srgbClr val="1F1F1F"/>
                        </a:solidFill>
                        <a:effectLst/>
                        <a:latin typeface="Google Sans Text"/>
                      </a:endParaRPr>
                    </a:p>
                  </a:txBody>
                  <a:tcPr marL="42596" marR="42596" marT="28397" marB="28397"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85908189"/>
                  </a:ext>
                </a:extLst>
              </a:tr>
            </a:tbl>
          </a:graphicData>
        </a:graphic>
      </p:graphicFrame>
      <p:pic>
        <p:nvPicPr>
          <p:cNvPr id="6" name="Picture 5">
            <a:extLst>
              <a:ext uri="{FF2B5EF4-FFF2-40B4-BE49-F238E27FC236}">
                <a16:creationId xmlns:a16="http://schemas.microsoft.com/office/drawing/2014/main" id="{F599A974-E015-B180-1078-8EA801594A23}"/>
              </a:ext>
            </a:extLst>
          </p:cNvPr>
          <p:cNvPicPr>
            <a:picLocks noChangeAspect="1"/>
          </p:cNvPicPr>
          <p:nvPr/>
        </p:nvPicPr>
        <p:blipFill>
          <a:blip r:embed="rId3"/>
          <a:stretch>
            <a:fillRect/>
          </a:stretch>
        </p:blipFill>
        <p:spPr>
          <a:xfrm>
            <a:off x="5707134" y="1238541"/>
            <a:ext cx="3436866" cy="3436866"/>
          </a:xfrm>
          <a:prstGeom prst="rect">
            <a:avLst/>
          </a:prstGeom>
        </p:spPr>
      </p:pic>
      <p:sp>
        <p:nvSpPr>
          <p:cNvPr id="8" name="TextBox 7">
            <a:extLst>
              <a:ext uri="{FF2B5EF4-FFF2-40B4-BE49-F238E27FC236}">
                <a16:creationId xmlns:a16="http://schemas.microsoft.com/office/drawing/2014/main" id="{69C8FF48-7E13-8AAE-DA4F-0AFE837AB319}"/>
              </a:ext>
            </a:extLst>
          </p:cNvPr>
          <p:cNvSpPr txBox="1"/>
          <p:nvPr/>
        </p:nvSpPr>
        <p:spPr>
          <a:xfrm>
            <a:off x="7026875" y="85657"/>
            <a:ext cx="2235044" cy="1015663"/>
          </a:xfrm>
          <a:prstGeom prst="rect">
            <a:avLst/>
          </a:prstGeom>
          <a:noFill/>
        </p:spPr>
        <p:txBody>
          <a:bodyPr wrap="square">
            <a:spAutoFit/>
          </a:bodyPr>
          <a:lstStyle/>
          <a:p>
            <a:r>
              <a:rPr lang="en-PH" sz="1200" b="1" dirty="0">
                <a:latin typeface="Roboto Condensed" panose="02000000000000000000" pitchFamily="2" charset="0"/>
                <a:ea typeface="Roboto Condensed" panose="02000000000000000000" pitchFamily="2" charset="0"/>
                <a:cs typeface="Roboto Condensed" panose="02000000000000000000" pitchFamily="2" charset="0"/>
              </a:rPr>
              <a:t>Best Practice Tip:</a:t>
            </a:r>
            <a:r>
              <a:rPr lang="en-PH" sz="1200" dirty="0">
                <a:latin typeface="Roboto Condensed" panose="02000000000000000000" pitchFamily="2" charset="0"/>
                <a:ea typeface="Roboto Condensed" panose="02000000000000000000" pitchFamily="2" charset="0"/>
                <a:cs typeface="Roboto Condensed" panose="02000000000000000000" pitchFamily="2" charset="0"/>
              </a:rPr>
              <a:t> Flowcharts should always flow from top to bottom, or left to right. Keep your arrows clear, and avoid crossing lines whenever possible.</a:t>
            </a:r>
          </a:p>
        </p:txBody>
      </p:sp>
    </p:spTree>
    <p:extLst>
      <p:ext uri="{BB962C8B-B14F-4D97-AF65-F5344CB8AC3E}">
        <p14:creationId xmlns:p14="http://schemas.microsoft.com/office/powerpoint/2010/main" val="3496932982"/>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57DB91D3-D524-C51A-58B4-70187421FCE5}"/>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BD0C8C0D-AF92-D2CE-7CE2-8CE400BBBB95}"/>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Algorithm Design (Flowchart Steps)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B5241093-266B-6690-7B53-78B92B239DE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24</a:t>
            </a:fld>
            <a:endParaRPr lang="en-GB"/>
          </a:p>
        </p:txBody>
      </p:sp>
      <p:grpSp>
        <p:nvGrpSpPr>
          <p:cNvPr id="194" name="Google Shape;194;p12">
            <a:extLst>
              <a:ext uri="{FF2B5EF4-FFF2-40B4-BE49-F238E27FC236}">
                <a16:creationId xmlns:a16="http://schemas.microsoft.com/office/drawing/2014/main" id="{639028C7-E23E-967E-C3D3-D50F7F5FE41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B648ACCF-186D-18F4-B2D9-B5F5B9893ADC}"/>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ABD47F79-BB0B-D0D8-B43E-B4EBE3F5E128}"/>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2143EB92-BE58-C316-C6F5-54E29DBCCD15}"/>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B523C1E4-5FB8-191A-5680-F9D66FF8BD31}"/>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6C7DBBD0-661B-8C20-8F46-EBA77AC53DFF}"/>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6C77F1D3-2B86-5251-DC61-3A70878C5085}"/>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1B44929D-FCC4-8B68-C58D-7CD432508C06}"/>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E975349E-4E1C-E468-53D9-008A74450332}"/>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6316A755-5DF8-9923-6309-1EDE5DB96E39}"/>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20C34FC4-EDEA-0224-F62D-A61CE9253756}"/>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241817AA-853E-73B4-16B5-23CC3D429A20}"/>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D9A7A39-397E-DAF2-B1EC-3198CD0678E1}"/>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C9F6460D-858F-D157-0853-8BB51D50C853}"/>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C92932F9-8F1E-68DB-938C-64EE87A3376C}"/>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270145FA-B01F-712A-4DA6-1E0354F9103D}"/>
              </a:ext>
            </a:extLst>
          </p:cNvPr>
          <p:cNvSpPr>
            <a:spLocks noGrp="1"/>
          </p:cNvSpPr>
          <p:nvPr>
            <p:ph type="body" idx="2"/>
          </p:nvPr>
        </p:nvSpPr>
        <p:spPr>
          <a:xfrm>
            <a:off x="1" y="1346571"/>
            <a:ext cx="4633784" cy="2807776"/>
          </a:xfrm>
        </p:spPr>
        <p:txBody>
          <a:bodyPr/>
          <a:lstStyle/>
          <a:p>
            <a:r>
              <a:rPr lang="en-PH" sz="1800" dirty="0"/>
              <a:t>Problem Definition</a:t>
            </a:r>
          </a:p>
          <a:p>
            <a:pPr lvl="0"/>
            <a:r>
              <a:rPr lang="en-PH" sz="1800" b="1" dirty="0"/>
              <a:t>Goal:</a:t>
            </a:r>
            <a:r>
              <a:rPr lang="en-PH" sz="1800" dirty="0"/>
              <a:t> Cook a standard pot of pork adobo.</a:t>
            </a:r>
          </a:p>
          <a:p>
            <a:pPr lvl="0"/>
            <a:r>
              <a:rPr lang="en-PH" sz="1800" b="1" dirty="0"/>
              <a:t>Constraint:</a:t>
            </a:r>
            <a:r>
              <a:rPr lang="en-PH" sz="1800" dirty="0"/>
              <a:t> The meat must be simmered until it is perfectly tender. The process cannot finish until this condition is met.</a:t>
            </a:r>
          </a:p>
          <a:p>
            <a:r>
              <a:rPr lang="en-PH" sz="1800" dirty="0"/>
              <a:t>Problem Analysis (IPO Model)</a:t>
            </a:r>
          </a:p>
          <a:p>
            <a:pPr lvl="1"/>
            <a:endParaRPr lang="en-PH" sz="1800" dirty="0"/>
          </a:p>
        </p:txBody>
      </p:sp>
      <p:graphicFrame>
        <p:nvGraphicFramePr>
          <p:cNvPr id="3" name="Table 2">
            <a:extLst>
              <a:ext uri="{FF2B5EF4-FFF2-40B4-BE49-F238E27FC236}">
                <a16:creationId xmlns:a16="http://schemas.microsoft.com/office/drawing/2014/main" id="{EB1A2827-BB4B-6EE7-2032-571F7362AE33}"/>
              </a:ext>
            </a:extLst>
          </p:cNvPr>
          <p:cNvGraphicFramePr>
            <a:graphicFrameLocks noGrp="1"/>
          </p:cNvGraphicFramePr>
          <p:nvPr/>
        </p:nvGraphicFramePr>
        <p:xfrm>
          <a:off x="4753233" y="1504413"/>
          <a:ext cx="4226009" cy="2979772"/>
        </p:xfrm>
        <a:graphic>
          <a:graphicData uri="http://schemas.openxmlformats.org/drawingml/2006/table">
            <a:tbl>
              <a:tblPr/>
              <a:tblGrid>
                <a:gridCol w="1076305">
                  <a:extLst>
                    <a:ext uri="{9D8B030D-6E8A-4147-A177-3AD203B41FA5}">
                      <a16:colId xmlns:a16="http://schemas.microsoft.com/office/drawing/2014/main" val="1881597606"/>
                    </a:ext>
                  </a:extLst>
                </a:gridCol>
                <a:gridCol w="2008170">
                  <a:extLst>
                    <a:ext uri="{9D8B030D-6E8A-4147-A177-3AD203B41FA5}">
                      <a16:colId xmlns:a16="http://schemas.microsoft.com/office/drawing/2014/main" val="2031046362"/>
                    </a:ext>
                  </a:extLst>
                </a:gridCol>
                <a:gridCol w="1141534">
                  <a:extLst>
                    <a:ext uri="{9D8B030D-6E8A-4147-A177-3AD203B41FA5}">
                      <a16:colId xmlns:a16="http://schemas.microsoft.com/office/drawing/2014/main" val="1081791866"/>
                    </a:ext>
                  </a:extLst>
                </a:gridCol>
              </a:tblGrid>
              <a:tr h="156371">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Input</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Process</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b="1">
                          <a:effectLst/>
                          <a:latin typeface="Roboto Condensed" panose="02000000000000000000" pitchFamily="2" charset="0"/>
                          <a:ea typeface="Roboto Condensed" panose="02000000000000000000" pitchFamily="2" charset="0"/>
                          <a:cs typeface="Roboto Condensed" panose="02000000000000000000" pitchFamily="2" charset="0"/>
                        </a:rPr>
                        <a:t>Output</a:t>
                      </a:r>
                      <a:endParaRPr lang="en-PH" sz="900">
                        <a:effectLst/>
                        <a:latin typeface="Roboto Condensed" panose="02000000000000000000" pitchFamily="2" charset="0"/>
                        <a:ea typeface="Roboto Condensed" panose="02000000000000000000" pitchFamily="2" charset="0"/>
                        <a:cs typeface="Roboto Condensed" panose="02000000000000000000" pitchFamily="2" charset="0"/>
                      </a:endParaRP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25905091"/>
                  </a:ext>
                </a:extLst>
              </a:tr>
              <a:tr h="2684675">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Ingredients: Pork, Soy Sauce, Vinegar, Garlic, Peppercorns, Bay Leaves, Water, Heat</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1. Combine all ingredients in a pot.</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2. Apply heat to bring to a boil.</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3. Lower heat to simmer.</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4. </a:t>
                      </a:r>
                      <a:r>
                        <a:rPr lang="en-PH" sz="900" b="1" dirty="0">
                          <a:effectLst/>
                          <a:latin typeface="Roboto Condensed" panose="02000000000000000000" pitchFamily="2" charset="0"/>
                          <a:ea typeface="Roboto Condensed" panose="02000000000000000000" pitchFamily="2" charset="0"/>
                          <a:cs typeface="Roboto Condensed" panose="02000000000000000000" pitchFamily="2" charset="0"/>
                        </a:rPr>
                        <a:t>Loop / Decision:</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Is the pork tender?</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en-PH" sz="900" i="1" dirty="0">
                          <a:effectLst/>
                          <a:latin typeface="Roboto Condensed" panose="02000000000000000000" pitchFamily="2" charset="0"/>
                          <a:ea typeface="Roboto Condensed" panose="02000000000000000000" pitchFamily="2" charset="0"/>
                          <a:cs typeface="Roboto Condensed" panose="02000000000000000000" pitchFamily="2" charset="0"/>
                        </a:rPr>
                        <a:t>If No:</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Wait 10 minutes, then check again.</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en-PH" sz="900" i="1" dirty="0">
                          <a:effectLst/>
                          <a:latin typeface="Roboto Condensed" panose="02000000000000000000" pitchFamily="2" charset="0"/>
                          <a:ea typeface="Roboto Condensed" panose="02000000000000000000" pitchFamily="2" charset="0"/>
                          <a:cs typeface="Roboto Condensed" panose="02000000000000000000" pitchFamily="2" charset="0"/>
                        </a:rPr>
                        <a:t>If Yes:</a:t>
                      </a: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 Proceed to step 5.</a:t>
                      </a:r>
                    </a:p>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5. Turn off heat.</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tc>
                  <a:txBody>
                    <a:bodyPr/>
                    <a:lstStyle/>
                    <a:p>
                      <a:pPr>
                        <a:spcAft>
                          <a:spcPts val="2400"/>
                        </a:spcAft>
                        <a:buNone/>
                      </a:pPr>
                      <a:r>
                        <a:rPr lang="en-PH" sz="900" dirty="0">
                          <a:effectLst/>
                          <a:latin typeface="Roboto Condensed" panose="02000000000000000000" pitchFamily="2" charset="0"/>
                          <a:ea typeface="Roboto Condensed" panose="02000000000000000000" pitchFamily="2" charset="0"/>
                          <a:cs typeface="Roboto Condensed" panose="02000000000000000000" pitchFamily="2" charset="0"/>
                        </a:rPr>
                        <a:t>A cooked pot of Adobo.</a:t>
                      </a:r>
                    </a:p>
                  </a:txBody>
                  <a:tcPr marL="20135" marR="20135" marT="13423" marB="13423" anchor="ctr">
                    <a:lnL w="4763" cap="flat" cmpd="sng" algn="ctr">
                      <a:solidFill>
                        <a:srgbClr val="C4C7C5"/>
                      </a:solidFill>
                      <a:prstDash val="solid"/>
                      <a:round/>
                      <a:headEnd type="none" w="med" len="med"/>
                      <a:tailEnd type="none" w="med" len="med"/>
                    </a:lnL>
                    <a:lnR w="4763" cap="flat" cmpd="sng" algn="ctr">
                      <a:solidFill>
                        <a:srgbClr val="C4C7C5"/>
                      </a:solidFill>
                      <a:prstDash val="solid"/>
                      <a:round/>
                      <a:headEnd type="none" w="med" len="med"/>
                      <a:tailEnd type="none" w="med" len="med"/>
                    </a:lnR>
                    <a:lnT w="4763" cap="flat" cmpd="sng" algn="ctr">
                      <a:solidFill>
                        <a:srgbClr val="C4C7C5"/>
                      </a:solidFill>
                      <a:prstDash val="solid"/>
                      <a:round/>
                      <a:headEnd type="none" w="med" len="med"/>
                      <a:tailEnd type="none" w="med" len="med"/>
                    </a:lnT>
                    <a:lnB w="4763"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54234617"/>
                  </a:ext>
                </a:extLst>
              </a:tr>
            </a:tbl>
          </a:graphicData>
        </a:graphic>
      </p:graphicFrame>
    </p:spTree>
    <p:extLst>
      <p:ext uri="{BB962C8B-B14F-4D97-AF65-F5344CB8AC3E}">
        <p14:creationId xmlns:p14="http://schemas.microsoft.com/office/powerpoint/2010/main" val="1922279128"/>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Example: The Adobo Algorithm (Introducing Loops)</a:t>
            </a:r>
            <a:endParaRPr dirty="0">
              <a:solidFill>
                <a:schemeClr val="bg1">
                  <a:lumMod val="95000"/>
                </a:schemeClr>
              </a:solidFill>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25</a:t>
            </a:fld>
            <a:endParaRPr lang="en-GB"/>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p:cNvSpPr>
            <a:spLocks noGrp="1"/>
          </p:cNvSpPr>
          <p:nvPr>
            <p:ph type="body" idx="2"/>
          </p:nvPr>
        </p:nvSpPr>
        <p:spPr>
          <a:xfrm>
            <a:off x="-78259" y="1200267"/>
            <a:ext cx="4650259" cy="2807776"/>
          </a:xfrm>
        </p:spPr>
        <p:txBody>
          <a:bodyPr/>
          <a:lstStyle/>
          <a:p>
            <a:pPr lvl="0"/>
            <a:r>
              <a:rPr lang="en-PH" sz="1600" b="1" dirty="0"/>
              <a:t>Start</a:t>
            </a:r>
            <a:r>
              <a:rPr lang="en-PH" sz="1600" dirty="0"/>
              <a:t> (Oval)</a:t>
            </a:r>
          </a:p>
          <a:p>
            <a:pPr lvl="0"/>
            <a:r>
              <a:rPr lang="en-PH" sz="1600" b="1" dirty="0"/>
              <a:t>Input:</a:t>
            </a:r>
            <a:r>
              <a:rPr lang="en-PH" sz="1600" dirty="0"/>
              <a:t> Put Pork, Soy Sauce, Vinegar, Garlic, and Spices into pot (Parallelogram)</a:t>
            </a:r>
          </a:p>
          <a:p>
            <a:pPr lvl="0"/>
            <a:r>
              <a:rPr lang="en-PH" sz="1600" b="1" dirty="0"/>
              <a:t>Process:</a:t>
            </a:r>
            <a:r>
              <a:rPr lang="en-PH" sz="1600" dirty="0"/>
              <a:t> Bring to a boil on high heat (Rectangle)</a:t>
            </a:r>
          </a:p>
          <a:p>
            <a:pPr lvl="0"/>
            <a:r>
              <a:rPr lang="en-PH" sz="1600" b="1" dirty="0"/>
              <a:t>Process:</a:t>
            </a:r>
            <a:r>
              <a:rPr lang="en-PH" sz="1600" dirty="0"/>
              <a:t> Reduce to low heat (Rectangle)</a:t>
            </a:r>
          </a:p>
          <a:p>
            <a:pPr lvl="0"/>
            <a:r>
              <a:rPr lang="en-PH" sz="1600" b="1" dirty="0"/>
              <a:t>Decision:</a:t>
            </a:r>
            <a:r>
              <a:rPr lang="en-PH" sz="1600" dirty="0"/>
              <a:t> Is the meat tender? (Diamond)</a:t>
            </a:r>
          </a:p>
          <a:p>
            <a:pPr lvl="1"/>
            <a:r>
              <a:rPr lang="en-PH" sz="1600" i="1" dirty="0"/>
              <a:t>If No:</a:t>
            </a:r>
            <a:r>
              <a:rPr lang="en-PH" sz="1600" dirty="0"/>
              <a:t> </a:t>
            </a:r>
            <a:r>
              <a:rPr lang="en-PH" sz="1600" b="1" dirty="0"/>
              <a:t>Process:</a:t>
            </a:r>
            <a:r>
              <a:rPr lang="en-PH" sz="1600" dirty="0"/>
              <a:t> Simmer for 10 minutes -&gt; </a:t>
            </a:r>
            <a:r>
              <a:rPr lang="en-PH" sz="1600" b="1" dirty="0"/>
              <a:t>Loop back</a:t>
            </a:r>
            <a:r>
              <a:rPr lang="en-PH" sz="1600" dirty="0"/>
              <a:t> to Step 5 (Decision)</a:t>
            </a:r>
          </a:p>
          <a:p>
            <a:pPr lvl="1"/>
            <a:r>
              <a:rPr lang="en-PH" sz="1600" i="1" dirty="0"/>
              <a:t>If Yes:</a:t>
            </a:r>
            <a:r>
              <a:rPr lang="en-PH" sz="1600" dirty="0"/>
              <a:t> Proceed to Step 6</a:t>
            </a:r>
          </a:p>
          <a:p>
            <a:pPr lvl="0"/>
            <a:r>
              <a:rPr lang="en-PH" sz="1600" b="1" dirty="0"/>
              <a:t>Process:</a:t>
            </a:r>
            <a:r>
              <a:rPr lang="en-PH" sz="1600" dirty="0"/>
              <a:t> Turn off stove (Rectangle)</a:t>
            </a:r>
          </a:p>
          <a:p>
            <a:pPr lvl="0"/>
            <a:r>
              <a:rPr lang="en-PH" sz="1600" b="1" dirty="0"/>
              <a:t>Output:</a:t>
            </a:r>
            <a:r>
              <a:rPr lang="en-PH" sz="1600" dirty="0"/>
              <a:t> Serve Adobo (Parallelogram)</a:t>
            </a:r>
          </a:p>
          <a:p>
            <a:pPr lvl="0"/>
            <a:r>
              <a:rPr lang="en-PH" sz="1600" b="1" dirty="0"/>
              <a:t>End</a:t>
            </a:r>
            <a:r>
              <a:rPr lang="en-PH" sz="1600" dirty="0"/>
              <a:t> (Oval)</a:t>
            </a:r>
          </a:p>
        </p:txBody>
      </p:sp>
      <p:pic>
        <p:nvPicPr>
          <p:cNvPr id="5" name="Picture 4">
            <a:extLst>
              <a:ext uri="{FF2B5EF4-FFF2-40B4-BE49-F238E27FC236}">
                <a16:creationId xmlns:a16="http://schemas.microsoft.com/office/drawing/2014/main" id="{9C13948C-B1BC-6AC6-A462-E75805FD9E70}"/>
              </a:ext>
            </a:extLst>
          </p:cNvPr>
          <p:cNvPicPr>
            <a:picLocks noChangeAspect="1"/>
          </p:cNvPicPr>
          <p:nvPr/>
        </p:nvPicPr>
        <p:blipFill>
          <a:blip r:embed="rId3"/>
          <a:stretch>
            <a:fillRect/>
          </a:stretch>
        </p:blipFill>
        <p:spPr>
          <a:xfrm>
            <a:off x="4737666" y="1453660"/>
            <a:ext cx="4367734" cy="2554383"/>
          </a:xfrm>
          <a:prstGeom prst="rect">
            <a:avLst/>
          </a:prstGeom>
        </p:spPr>
      </p:pic>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A3902863-9757-452F-8E4D-9DF7973F55BF}"/>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1958540E-B9C9-596C-DB81-880B19D377F8}"/>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Activity 1:</a:t>
            </a:r>
            <a:br>
              <a:rPr lang="en-PH" dirty="0"/>
            </a:br>
            <a:r>
              <a:rPr lang="en-PH" dirty="0"/>
              <a:t>The Dynamic Adobo Algorithm (Input &amp; Calculation)</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A0245AFE-C7C6-69DA-36E5-DF24AAF36D25}"/>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26</a:t>
            </a:fld>
            <a:endParaRPr lang="en-GB"/>
          </a:p>
        </p:txBody>
      </p:sp>
      <p:grpSp>
        <p:nvGrpSpPr>
          <p:cNvPr id="194" name="Google Shape;194;p12">
            <a:extLst>
              <a:ext uri="{FF2B5EF4-FFF2-40B4-BE49-F238E27FC236}">
                <a16:creationId xmlns:a16="http://schemas.microsoft.com/office/drawing/2014/main" id="{20B77561-3DA3-385B-BB2E-7ABDBC1F72DD}"/>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F9460224-891B-B9E2-FB95-C88F043C3FC5}"/>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72F8C595-94A8-F2D0-94A8-2404E8D97FA0}"/>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63B8F046-BA60-EF08-F84D-E53BA624F6CA}"/>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ACA29473-2C63-1FD6-C04E-F1455DFBBC9D}"/>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81EA67FE-2808-3E66-74D6-C422765F6696}"/>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445F1751-0041-C8A6-0EF2-734E72E9D9AD}"/>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B8A29B6D-0891-C566-D912-E1762B91D3F1}"/>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5921579B-12EE-778C-8AF7-25FD204B189D}"/>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EEE99ECE-F07A-C241-67DE-62A07265B6D2}"/>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66644AA8-9048-454D-F7CF-85A216239351}"/>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91300760-7AFA-A80E-2611-BF92B7FABCC4}"/>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30D3ECE7-FB65-FE7F-02F1-ADDCB135314E}"/>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E4728094-9597-C09D-34F9-A491DA537C4F}"/>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AE550ED0-BD03-D889-F92C-05F9134EA19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mc:AlternateContent xmlns:mc="http://schemas.openxmlformats.org/markup-compatibility/2006">
        <mc:Choice xmlns:a14="http://schemas.microsoft.com/office/drawing/2010/main" Requires="a14">
          <p:sp>
            <p:nvSpPr>
              <p:cNvPr id="25" name="Text Placeholder 4">
                <a:extLst>
                  <a:ext uri="{FF2B5EF4-FFF2-40B4-BE49-F238E27FC236}">
                    <a16:creationId xmlns:a16="http://schemas.microsoft.com/office/drawing/2014/main" id="{25155B6A-530E-6027-1107-18EFD7243AE7}"/>
                  </a:ext>
                </a:extLst>
              </p:cNvPr>
              <p:cNvSpPr>
                <a:spLocks noGrp="1"/>
              </p:cNvSpPr>
              <p:nvPr>
                <p:ph type="body" idx="2"/>
              </p:nvPr>
            </p:nvSpPr>
            <p:spPr>
              <a:xfrm>
                <a:off x="-78259" y="1200267"/>
                <a:ext cx="867856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Goal: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Create an algorithm that tells a user exactly how much soy sauce and vinegar they need based on the amount of pork they want to cook.</a:t>
                </a: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Constraint:</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The standard ratio is </a:t>
                </a:r>
                <a14:m>
                  <m:oMath xmlns:m="http://schemas.openxmlformats.org/officeDocument/2006/math">
                    <m:f>
                      <m:fPr>
                        <m:ctrlPr>
                          <a:rPr lang="en-PH" sz="1800"/>
                        </m:ctrlPr>
                      </m:fPr>
                      <m:num>
                        <m:r>
                          <a:rPr lang="en-PH" sz="1800"/>
                          <m:t>1</m:t>
                        </m:r>
                      </m:num>
                      <m:den>
                        <m:r>
                          <a:rPr lang="en-PH" sz="1800"/>
                          <m:t>2</m:t>
                        </m:r>
                      </m:den>
                    </m:f>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cup of soy sauce and </a:t>
                </a:r>
                <a14:m>
                  <m:oMath xmlns:m="http://schemas.openxmlformats.org/officeDocument/2006/math">
                    <m:f>
                      <m:fPr>
                        <m:ctrlPr>
                          <a:rPr lang="en-PH" sz="1800"/>
                        </m:ctrlPr>
                      </m:fPr>
                      <m:num>
                        <m:r>
                          <a:rPr lang="en-PH" sz="1800"/>
                          <m:t>1</m:t>
                        </m:r>
                      </m:num>
                      <m:den>
                        <m:r>
                          <a:rPr lang="en-PH" sz="1800"/>
                          <m:t>3</m:t>
                        </m:r>
                      </m:den>
                    </m:f>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cup of vinegar for every </a:t>
                </a:r>
                <a14:m>
                  <m:oMath xmlns:m="http://schemas.openxmlformats.org/officeDocument/2006/math">
                    <m:r>
                      <a:rPr lang="en-PH" sz="1800"/>
                      <m:t>1</m:t>
                    </m:r>
                  </m:oMath>
                </a14:m>
                <a:r>
                  <a:rPr lang="en-PH" sz="1800" dirty="0">
                    <a:latin typeface="Roboto Condensed" panose="02000000000000000000" pitchFamily="2" charset="0"/>
                    <a:ea typeface="Roboto Condensed" panose="02000000000000000000" pitchFamily="2" charset="0"/>
                    <a:cs typeface="Roboto Condensed" panose="02000000000000000000" pitchFamily="2" charset="0"/>
                  </a:rPr>
                  <a:t>kilogram of pork.</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Tasks: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Generate Problem Analysis (IPO Model)</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Algorithm Design (Flowchart Steps)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Create Flowchart version</a:t>
                </a:r>
              </a:p>
            </p:txBody>
          </p:sp>
        </mc:Choice>
        <mc:Fallback>
          <p:sp>
            <p:nvSpPr>
              <p:cNvPr id="25" name="Text Placeholder 4">
                <a:extLst>
                  <a:ext uri="{FF2B5EF4-FFF2-40B4-BE49-F238E27FC236}">
                    <a16:creationId xmlns:a16="http://schemas.microsoft.com/office/drawing/2014/main" id="{25155B6A-530E-6027-1107-18EFD7243AE7}"/>
                  </a:ext>
                </a:extLst>
              </p:cNvPr>
              <p:cNvSpPr>
                <a:spLocks noGrp="1" noRot="1" noChangeAspect="1" noMove="1" noResize="1" noEditPoints="1" noAdjustHandles="1" noChangeArrowheads="1" noChangeShapeType="1" noTextEdit="1"/>
              </p:cNvSpPr>
              <p:nvPr>
                <p:ph type="body" idx="2"/>
              </p:nvPr>
            </p:nvSpPr>
            <p:spPr>
              <a:xfrm>
                <a:off x="-78259" y="1200267"/>
                <a:ext cx="8678562" cy="2807776"/>
              </a:xfrm>
              <a:blipFill>
                <a:blip r:embed="rId3"/>
                <a:stretch>
                  <a:fillRect b="-38043"/>
                </a:stretch>
              </a:blipFill>
            </p:spPr>
            <p:txBody>
              <a:bodyPr/>
              <a:lstStyle/>
              <a:p>
                <a:r>
                  <a:rPr lang="en-PH">
                    <a:noFill/>
                  </a:rPr>
                  <a:t> </a:t>
                </a:r>
              </a:p>
            </p:txBody>
          </p:sp>
        </mc:Fallback>
      </mc:AlternateContent>
    </p:spTree>
    <p:extLst>
      <p:ext uri="{BB962C8B-B14F-4D97-AF65-F5344CB8AC3E}">
        <p14:creationId xmlns:p14="http://schemas.microsoft.com/office/powerpoint/2010/main" val="2949591921"/>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03ED69EF-253C-3784-700D-B653D0D6778A}"/>
            </a:ext>
          </a:extLst>
        </p:cNvPr>
        <p:cNvGrpSpPr/>
        <p:nvPr/>
      </p:nvGrpSpPr>
      <p:grpSpPr>
        <a:xfrm>
          <a:off x="0" y="0"/>
          <a:ext cx="0" cy="0"/>
          <a:chOff x="0" y="0"/>
          <a:chExt cx="0" cy="0"/>
        </a:xfrm>
      </p:grpSpPr>
      <p:sp>
        <p:nvSpPr>
          <p:cNvPr id="189" name="Google Shape;189;p12">
            <a:extLst>
              <a:ext uri="{FF2B5EF4-FFF2-40B4-BE49-F238E27FC236}">
                <a16:creationId xmlns:a16="http://schemas.microsoft.com/office/drawing/2014/main" id="{85813FEA-712E-3E2A-E71B-277DA3919419}"/>
              </a:ext>
            </a:extLst>
          </p:cNvPr>
          <p:cNvSpPr txBox="1">
            <a:spLocks noGrp="1"/>
          </p:cNvSpPr>
          <p:nvPr>
            <p:ph type="title"/>
          </p:nvPr>
        </p:nvSpPr>
        <p:spPr>
          <a:xfrm>
            <a:off x="814275" y="392575"/>
            <a:ext cx="5582406" cy="766200"/>
          </a:xfrm>
          <a:prstGeom prst="rect">
            <a:avLst/>
          </a:prstGeom>
        </p:spPr>
        <p:txBody>
          <a:bodyPr spcFirstLastPara="1" wrap="square" lIns="91425" tIns="91425" rIns="91425" bIns="91425" anchor="ctr" anchorCtr="0">
            <a:noAutofit/>
          </a:bodyPr>
          <a:lstStyle/>
          <a:p>
            <a:pPr lvl="0"/>
            <a:r>
              <a:rPr lang="en-PH" dirty="0"/>
              <a:t>Activity 2:</a:t>
            </a:r>
            <a:br>
              <a:rPr lang="en-PH" dirty="0"/>
            </a:br>
            <a:r>
              <a:rPr lang="en-PH" dirty="0"/>
              <a:t>The PSU admission process</a:t>
            </a:r>
            <a:endParaRPr dirty="0">
              <a:solidFill>
                <a:schemeClr val="bg1">
                  <a:lumMod val="95000"/>
                </a:schemeClr>
              </a:solidFill>
            </a:endParaRPr>
          </a:p>
        </p:txBody>
      </p:sp>
      <p:sp>
        <p:nvSpPr>
          <p:cNvPr id="192" name="Google Shape;192;p12">
            <a:extLst>
              <a:ext uri="{FF2B5EF4-FFF2-40B4-BE49-F238E27FC236}">
                <a16:creationId xmlns:a16="http://schemas.microsoft.com/office/drawing/2014/main" id="{980D14D2-87E5-9513-D80B-A49B36A46A24}"/>
              </a:ext>
            </a:extLst>
          </p:cNvPr>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27</a:t>
            </a:fld>
            <a:endParaRPr lang="en-GB"/>
          </a:p>
        </p:txBody>
      </p:sp>
      <p:grpSp>
        <p:nvGrpSpPr>
          <p:cNvPr id="194" name="Google Shape;194;p12">
            <a:extLst>
              <a:ext uri="{FF2B5EF4-FFF2-40B4-BE49-F238E27FC236}">
                <a16:creationId xmlns:a16="http://schemas.microsoft.com/office/drawing/2014/main" id="{6041ABDF-561F-7577-D2FF-4EFBC5666396}"/>
              </a:ext>
            </a:extLst>
          </p:cNvPr>
          <p:cNvGrpSpPr/>
          <p:nvPr/>
        </p:nvGrpSpPr>
        <p:grpSpPr>
          <a:xfrm>
            <a:off x="293683" y="574116"/>
            <a:ext cx="309041" cy="403123"/>
            <a:chOff x="590250" y="244200"/>
            <a:chExt cx="407975" cy="532175"/>
          </a:xfrm>
        </p:grpSpPr>
        <p:sp>
          <p:nvSpPr>
            <p:cNvPr id="195" name="Google Shape;195;p12">
              <a:extLst>
                <a:ext uri="{FF2B5EF4-FFF2-40B4-BE49-F238E27FC236}">
                  <a16:creationId xmlns:a16="http://schemas.microsoft.com/office/drawing/2014/main" id="{60FA0502-39A7-EBD1-1F97-7BC0076DB952}"/>
                </a:ext>
              </a:extLst>
            </p:cNvPr>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a:extLst>
                <a:ext uri="{FF2B5EF4-FFF2-40B4-BE49-F238E27FC236}">
                  <a16:creationId xmlns:a16="http://schemas.microsoft.com/office/drawing/2014/main" id="{5B1D4FDC-E1E6-8CFA-D5A3-073781E12DCC}"/>
                </a:ext>
              </a:extLst>
            </p:cNvPr>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a:extLst>
                <a:ext uri="{FF2B5EF4-FFF2-40B4-BE49-F238E27FC236}">
                  <a16:creationId xmlns:a16="http://schemas.microsoft.com/office/drawing/2014/main" id="{3D9DE537-239D-7C95-EE16-627A30547E8F}"/>
                </a:ext>
              </a:extLst>
            </p:cNvPr>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a:extLst>
                <a:ext uri="{FF2B5EF4-FFF2-40B4-BE49-F238E27FC236}">
                  <a16:creationId xmlns:a16="http://schemas.microsoft.com/office/drawing/2014/main" id="{93BBFBD6-AA38-3C34-BE69-E94F1FFAA70B}"/>
                </a:ext>
              </a:extLst>
            </p:cNvPr>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a:extLst>
                <a:ext uri="{FF2B5EF4-FFF2-40B4-BE49-F238E27FC236}">
                  <a16:creationId xmlns:a16="http://schemas.microsoft.com/office/drawing/2014/main" id="{5F18C087-8684-7ED0-531A-4437D389CB92}"/>
                </a:ext>
              </a:extLst>
            </p:cNvPr>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a:extLst>
                <a:ext uri="{FF2B5EF4-FFF2-40B4-BE49-F238E27FC236}">
                  <a16:creationId xmlns:a16="http://schemas.microsoft.com/office/drawing/2014/main" id="{52E53AD2-533A-F6BC-AAB2-55B8A92CCD2D}"/>
                </a:ext>
              </a:extLst>
            </p:cNvPr>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a:extLst>
                <a:ext uri="{FF2B5EF4-FFF2-40B4-BE49-F238E27FC236}">
                  <a16:creationId xmlns:a16="http://schemas.microsoft.com/office/drawing/2014/main" id="{492B31BF-7534-AB14-BB63-36D34FF2EAED}"/>
                </a:ext>
              </a:extLst>
            </p:cNvPr>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a:extLst>
                <a:ext uri="{FF2B5EF4-FFF2-40B4-BE49-F238E27FC236}">
                  <a16:creationId xmlns:a16="http://schemas.microsoft.com/office/drawing/2014/main" id="{7A58D723-C619-B243-9FC1-B87EF0B88EBC}"/>
                </a:ext>
              </a:extLst>
            </p:cNvPr>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a:extLst>
                <a:ext uri="{FF2B5EF4-FFF2-40B4-BE49-F238E27FC236}">
                  <a16:creationId xmlns:a16="http://schemas.microsoft.com/office/drawing/2014/main" id="{DD3402D6-BB2B-26E4-81D3-2673B248B3EA}"/>
                </a:ext>
              </a:extLst>
            </p:cNvPr>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a:extLst>
                <a:ext uri="{FF2B5EF4-FFF2-40B4-BE49-F238E27FC236}">
                  <a16:creationId xmlns:a16="http://schemas.microsoft.com/office/drawing/2014/main" id="{03070197-7421-6D9D-F056-0368D4034918}"/>
                </a:ext>
              </a:extLst>
            </p:cNvPr>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a:extLst>
                <a:ext uri="{FF2B5EF4-FFF2-40B4-BE49-F238E27FC236}">
                  <a16:creationId xmlns:a16="http://schemas.microsoft.com/office/drawing/2014/main" id="{5CABACDC-193C-737E-BDBF-430311F93363}"/>
                </a:ext>
              </a:extLst>
            </p:cNvPr>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a:extLst>
                <a:ext uri="{FF2B5EF4-FFF2-40B4-BE49-F238E27FC236}">
                  <a16:creationId xmlns:a16="http://schemas.microsoft.com/office/drawing/2014/main" id="{211EDD97-6294-8BA0-0491-646C206574F6}"/>
                </a:ext>
              </a:extLst>
            </p:cNvPr>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a:extLst>
                <a:ext uri="{FF2B5EF4-FFF2-40B4-BE49-F238E27FC236}">
                  <a16:creationId xmlns:a16="http://schemas.microsoft.com/office/drawing/2014/main" id="{C102C7D7-E1EC-5F93-D973-718D91C963D2}"/>
                </a:ext>
              </a:extLst>
            </p:cNvPr>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a:extLst>
                <a:ext uri="{FF2B5EF4-FFF2-40B4-BE49-F238E27FC236}">
                  <a16:creationId xmlns:a16="http://schemas.microsoft.com/office/drawing/2014/main" id="{65798C18-C706-85E9-CFED-867696312851}"/>
                </a:ext>
              </a:extLst>
            </p:cNvPr>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laceholder 4">
            <a:extLst>
              <a:ext uri="{FF2B5EF4-FFF2-40B4-BE49-F238E27FC236}">
                <a16:creationId xmlns:a16="http://schemas.microsoft.com/office/drawing/2014/main" id="{22DEC068-FCDB-9002-9032-764C23607458}"/>
              </a:ext>
            </a:extLst>
          </p:cNvPr>
          <p:cNvSpPr>
            <a:spLocks noGrp="1"/>
          </p:cNvSpPr>
          <p:nvPr>
            <p:ph type="body" idx="2"/>
          </p:nvPr>
        </p:nvSpPr>
        <p:spPr>
          <a:xfrm>
            <a:off x="-78259" y="1200267"/>
            <a:ext cx="8678562" cy="2807776"/>
          </a:xfrm>
        </p:spPr>
        <p:txBody>
          <a:bodyPr/>
          <a:lstStyle/>
          <a:p>
            <a:r>
              <a:rPr lang="en-PH" sz="1800" b="1" dirty="0">
                <a:latin typeface="Roboto Condensed" panose="02000000000000000000" pitchFamily="2" charset="0"/>
                <a:ea typeface="Roboto Condensed" panose="02000000000000000000" pitchFamily="2" charset="0"/>
                <a:cs typeface="Roboto Condensed" panose="02000000000000000000" pitchFamily="2" charset="0"/>
              </a:rPr>
              <a:t>Problem Definition</a:t>
            </a:r>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b="1" dirty="0">
                <a:latin typeface="Roboto Condensed" panose="02000000000000000000" pitchFamily="2" charset="0"/>
                <a:ea typeface="Roboto Condensed" panose="02000000000000000000" pitchFamily="2" charset="0"/>
                <a:cs typeface="Roboto Condensed" panose="02000000000000000000" pitchFamily="2" charset="0"/>
              </a:rPr>
              <a:t>Goal:</a:t>
            </a:r>
            <a:r>
              <a:rPr lang="en-PH" sz="1800" dirty="0">
                <a:latin typeface="Roboto Condensed" panose="02000000000000000000" pitchFamily="2" charset="0"/>
                <a:ea typeface="Roboto Condensed" panose="02000000000000000000" pitchFamily="2" charset="0"/>
                <a:cs typeface="Roboto Condensed" panose="02000000000000000000" pitchFamily="2" charset="0"/>
              </a:rPr>
              <a:t> Create an algorithm regarding your experience during admission</a:t>
            </a:r>
          </a:p>
          <a:p>
            <a:pPr lvl="0"/>
            <a:endParaRPr lang="en-PH" sz="1800" dirty="0">
              <a:latin typeface="Roboto Condensed" panose="02000000000000000000" pitchFamily="2" charset="0"/>
              <a:ea typeface="Roboto Condensed" panose="02000000000000000000" pitchFamily="2" charset="0"/>
              <a:cs typeface="Roboto Condensed" panose="02000000000000000000" pitchFamily="2" charset="0"/>
            </a:endParaRPr>
          </a:p>
          <a:p>
            <a:pPr lvl="0"/>
            <a:r>
              <a:rPr lang="en-PH" sz="1800" dirty="0">
                <a:latin typeface="Roboto Condensed" panose="02000000000000000000" pitchFamily="2" charset="0"/>
                <a:ea typeface="Roboto Condensed" panose="02000000000000000000" pitchFamily="2" charset="0"/>
                <a:cs typeface="Roboto Condensed" panose="02000000000000000000" pitchFamily="2" charset="0"/>
              </a:rPr>
              <a:t>Tasks: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Generate Problem Analysis (IPO Model)</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Algorithm Design (Flowchart Steps)</a:t>
            </a:r>
          </a:p>
          <a:p>
            <a:pPr lvl="1"/>
            <a:r>
              <a:rPr lang="en-PH" sz="1800" dirty="0">
                <a:latin typeface="Roboto Condensed" panose="02000000000000000000" pitchFamily="2" charset="0"/>
                <a:ea typeface="Roboto Condensed" panose="02000000000000000000" pitchFamily="2" charset="0"/>
                <a:cs typeface="Roboto Condensed" panose="02000000000000000000" pitchFamily="2" charset="0"/>
              </a:rPr>
              <a:t>Create Flowchart version</a:t>
            </a:r>
          </a:p>
        </p:txBody>
      </p:sp>
    </p:spTree>
    <p:extLst>
      <p:ext uri="{BB962C8B-B14F-4D97-AF65-F5344CB8AC3E}">
        <p14:creationId xmlns:p14="http://schemas.microsoft.com/office/powerpoint/2010/main" val="464262360"/>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
        <p:nvSpPr>
          <p:cNvPr id="21" name="TextBox 20"/>
          <p:cNvSpPr txBox="1"/>
          <p:nvPr/>
        </p:nvSpPr>
        <p:spPr>
          <a:xfrm>
            <a:off x="2036064" y="2279904"/>
            <a:ext cx="5253361" cy="1200329"/>
          </a:xfrm>
          <a:prstGeom prst="rect">
            <a:avLst/>
          </a:prstGeom>
          <a:noFill/>
        </p:spPr>
        <p:txBody>
          <a:bodyPr wrap="none" rtlCol="0">
            <a:spAutoFit/>
          </a:bodyPr>
          <a:lstStyle/>
          <a:p>
            <a:r>
              <a:rPr lang="en-PH" sz="7200" dirty="0">
                <a:solidFill>
                  <a:srgbClr val="3F5378"/>
                </a:solidFill>
                <a:latin typeface="Roboto" panose="02000000000000000000" pitchFamily="2" charset="0"/>
                <a:ea typeface="Roboto" panose="02000000000000000000" pitchFamily="2" charset="0"/>
              </a:rPr>
              <a:t>THANK YOU</a:t>
            </a:r>
          </a:p>
        </p:txBody>
      </p:sp>
    </p:spTree>
  </p:cSld>
  <p:clrMapOvr>
    <a:masterClrMapping/>
  </p:clrMapOvr>
  <p:transition>
    <p:fade thruBlk="1"/>
  </p:transition>
</p:sld>
</file>

<file path=ppt/theme/theme1.xml><?xml version="1.0" encoding="utf-8"?>
<a:theme xmlns:a="http://schemas.openxmlformats.org/drawingml/2006/main" name="Salerio template">
  <a:themeElements>
    <a:clrScheme name="Custom 1">
      <a:dk1>
        <a:sysClr val="windowText" lastClr="000000"/>
      </a:dk1>
      <a:lt1>
        <a:sysClr val="window" lastClr="FFFFFF"/>
      </a:lt1>
      <a:dk2>
        <a:srgbClr val="323232"/>
      </a:dk2>
      <a:lt2>
        <a:srgbClr val="E5C243"/>
      </a:lt2>
      <a:accent1>
        <a:srgbClr val="A5300F"/>
      </a:accent1>
      <a:accent2>
        <a:srgbClr val="D55816"/>
      </a:accent2>
      <a:accent3>
        <a:srgbClr val="FF0000"/>
      </a:accent3>
      <a:accent4>
        <a:srgbClr val="FF0000"/>
      </a:accent4>
      <a:accent5>
        <a:srgbClr val="FF0000"/>
      </a:accent5>
      <a:accent6>
        <a:srgbClr val="FF0000"/>
      </a:accent6>
      <a:hlink>
        <a:srgbClr val="FF0000"/>
      </a:hlink>
      <a:folHlink>
        <a:srgbClr val="FF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A908B76C726C4587524A123154D472" ma:contentTypeVersion="0" ma:contentTypeDescription="Create a new document." ma:contentTypeScope="" ma:versionID="a4d6c14f022bed9f1539b6e9f358cba6">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76FC76-BA33-4C47-A195-C1BB620F7433}"/>
</file>

<file path=customXml/itemProps2.xml><?xml version="1.0" encoding="utf-8"?>
<ds:datastoreItem xmlns:ds="http://schemas.openxmlformats.org/officeDocument/2006/customXml" ds:itemID="{E73171A7-6373-499F-94AB-CE095326E554}"/>
</file>

<file path=customXml/itemProps3.xml><?xml version="1.0" encoding="utf-8"?>
<ds:datastoreItem xmlns:ds="http://schemas.openxmlformats.org/officeDocument/2006/customXml" ds:itemID="{ED099B62-89CF-4E29-98CB-A784CC12E341}"/>
</file>

<file path=docProps/app.xml><?xml version="1.0" encoding="utf-8"?>
<Properties xmlns="http://schemas.openxmlformats.org/officeDocument/2006/extended-properties" xmlns:vt="http://schemas.openxmlformats.org/officeDocument/2006/docPropsVTypes">
  <TotalTime>432</TotalTime>
  <Words>1993</Words>
  <Application>Microsoft Office PowerPoint</Application>
  <PresentationFormat>On-screen Show (16:9)</PresentationFormat>
  <Paragraphs>199</Paragraphs>
  <Slides>28</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Google Sans Text</vt:lpstr>
      <vt:lpstr>Arial</vt:lpstr>
      <vt:lpstr>Roboto Condensed</vt:lpstr>
      <vt:lpstr>Wingdings</vt:lpstr>
      <vt:lpstr>Arvo</vt:lpstr>
      <vt:lpstr>Roboto Condensed Light</vt:lpstr>
      <vt:lpstr>Google Sans Code</vt:lpstr>
      <vt:lpstr>Roboto</vt:lpstr>
      <vt:lpstr>Salerio template</vt:lpstr>
      <vt:lpstr>Exception Handling</vt:lpstr>
      <vt:lpstr>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Pretest : Introductory Concepts to Programming </vt:lpstr>
      <vt:lpstr>1.1 Computer Systems</vt:lpstr>
      <vt:lpstr>1.1 Computer Systems</vt:lpstr>
      <vt:lpstr>1.1 Computer Systems</vt:lpstr>
      <vt:lpstr>1.1 Computer Systems</vt:lpstr>
      <vt:lpstr>Software (The Instructions)</vt:lpstr>
      <vt:lpstr>Programming Tools</vt:lpstr>
      <vt:lpstr>Programming Tools</vt:lpstr>
      <vt:lpstr>Programming Tools</vt:lpstr>
      <vt:lpstr>Programming Tools</vt:lpstr>
      <vt:lpstr>Problem Definition</vt:lpstr>
      <vt:lpstr>Problem Analysis</vt:lpstr>
      <vt:lpstr>Problem Analysis</vt:lpstr>
      <vt:lpstr>Algorithm Design &amp; Representation (Flowcharting)</vt:lpstr>
      <vt:lpstr>Flowchart Symbols</vt:lpstr>
      <vt:lpstr>Flowchart Symbols</vt:lpstr>
      <vt:lpstr>Algorithm Design (Flowchart Steps)</vt:lpstr>
      <vt:lpstr>Example: The Adobo Algorithm (Introducing Loops)</vt:lpstr>
      <vt:lpstr>Activity 1: The Dynamic Adobo Algorithm (Input &amp; Calculation)</vt:lpstr>
      <vt:lpstr>Activity 2: The PSU admission process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Kathleen Esteves</dc:creator>
  <cp:lastModifiedBy>Leo Villanueva</cp:lastModifiedBy>
  <cp:revision>137</cp:revision>
  <cp:lastPrinted>2019-01-18T14:40:00Z</cp:lastPrinted>
  <dcterms:created xsi:type="dcterms:W3CDTF">2026-01-20T00:08:10Z</dcterms:created>
  <dcterms:modified xsi:type="dcterms:W3CDTF">2026-08-12T02:14:03Z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F1C3AB02D5D1488A81CE20DEE9477A6B_12</vt:lpwstr>
  </property>
  <property fmtid="{D5CDD505-2E9C-101B-9397-08002B2CF9AE}" pid="3" name="KSOProductBuildVer">
    <vt:lpwstr>1033-12.2.0.13214</vt:lpwstr>
  </property>
  <property fmtid="{D5CDD505-2E9C-101B-9397-08002B2CF9AE}" pid="4" name="ContentTypeId">
    <vt:lpwstr>0x01010024A908B76C726C4587524A123154D472</vt:lpwstr>
  </property>
</Properties>
</file>